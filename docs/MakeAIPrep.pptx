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Open Sans Bold" charset="1" panose="020B0806030504020204"/>
      <p:regular r:id="rId24"/>
    </p:embeddedFont>
    <p:embeddedFont>
      <p:font typeface="League Spartan" charset="1" panose="00000800000000000000"/>
      <p:regular r:id="rId25"/>
    </p:embeddedFont>
    <p:embeddedFont>
      <p:font typeface="Agrandir Tight Heavy" charset="1" panose="00000A08000000000000"/>
      <p:regular r:id="rId26"/>
    </p:embeddedFont>
    <p:embeddedFont>
      <p:font typeface="Montserrat" charset="1" panose="00000500000000000000"/>
      <p:regular r:id="rId27"/>
    </p:embeddedFont>
    <p:embeddedFont>
      <p:font typeface="Montserrat Bold" charset="1" panose="00000800000000000000"/>
      <p:regular r:id="rId28"/>
    </p:embeddedFont>
    <p:embeddedFont>
      <p:font typeface="TT Chocolates Bold" charset="1" panose="02000803020000020003"/>
      <p:regular r:id="rId29"/>
    </p:embeddedFont>
    <p:embeddedFont>
      <p:font typeface="TT Chocolates Bold Italics" charset="1" panose="02000803030000090003"/>
      <p:regular r:id="rId30"/>
    </p:embeddedFont>
    <p:embeddedFont>
      <p:font typeface="Open Sans" charset="1" panose="020B0606030504020204"/>
      <p:regular r:id="rId31"/>
    </p:embeddedFont>
    <p:embeddedFont>
      <p:font typeface="Agrandir Tight Bold" charset="1" panose="00000808000000000000"/>
      <p:regular r:id="rId32"/>
    </p:embeddedFont>
    <p:embeddedFont>
      <p:font typeface="Open Sauce" charset="1" panose="00000500000000000000"/>
      <p:regular r:id="rId33"/>
    </p:embeddedFont>
    <p:embeddedFont>
      <p:font typeface="Open Sauce Bold" charset="1" panose="000008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0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14" Target="../media/image33.png" Type="http://schemas.openxmlformats.org/officeDocument/2006/relationships/image"/><Relationship Id="rId15" Target="../media/image8.png" Type="http://schemas.openxmlformats.org/officeDocument/2006/relationships/image"/><Relationship Id="rId16" Target="../media/image9.svg" Type="http://schemas.openxmlformats.org/officeDocument/2006/relationships/image"/><Relationship Id="rId17" Target="../media/image12.png" Type="http://schemas.openxmlformats.org/officeDocument/2006/relationships/image"/><Relationship Id="rId18" Target="../media/image13.svg" Type="http://schemas.openxmlformats.org/officeDocument/2006/relationships/image"/><Relationship Id="rId19" Target="../media/image10.png" Type="http://schemas.openxmlformats.org/officeDocument/2006/relationships/image"/><Relationship Id="rId2" Target="../media/image21.png" Type="http://schemas.openxmlformats.org/officeDocument/2006/relationships/image"/><Relationship Id="rId20" Target="../media/image11.svg" Type="http://schemas.openxmlformats.org/officeDocument/2006/relationships/image"/><Relationship Id="rId21" Target="../media/image34.png" Type="http://schemas.openxmlformats.org/officeDocument/2006/relationships/image"/><Relationship Id="rId22" Target="../media/image35.svg" Type="http://schemas.openxmlformats.org/officeDocument/2006/relationships/image"/><Relationship Id="rId23" Target="../media/image36.png" Type="http://schemas.openxmlformats.org/officeDocument/2006/relationships/image"/><Relationship Id="rId24" Target="../media/image37.svg" Type="http://schemas.openxmlformats.org/officeDocument/2006/relationships/image"/><Relationship Id="rId25" Target="../media/image38.png" Type="http://schemas.openxmlformats.org/officeDocument/2006/relationships/image"/><Relationship Id="rId26" Target="../media/image39.svg" Type="http://schemas.openxmlformats.org/officeDocument/2006/relationships/image"/><Relationship Id="rId27" Target="../media/image40.png" Type="http://schemas.openxmlformats.org/officeDocument/2006/relationships/image"/><Relationship Id="rId28" Target="../media/image41.svg" Type="http://schemas.openxmlformats.org/officeDocument/2006/relationships/image"/><Relationship Id="rId29" Target="../media/image42.png" Type="http://schemas.openxmlformats.org/officeDocument/2006/relationships/image"/><Relationship Id="rId3" Target="../media/image22.svg" Type="http://schemas.openxmlformats.org/officeDocument/2006/relationships/image"/><Relationship Id="rId30" Target="../media/image43.svg" Type="http://schemas.openxmlformats.org/officeDocument/2006/relationships/image"/><Relationship Id="rId31" Target="../media/image44.pn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5.png" Type="http://schemas.openxmlformats.org/officeDocument/2006/relationships/image"/><Relationship Id="rId7" Target="../embeddings/oleObject1.bin" Type="http://schemas.openxmlformats.org/officeDocument/2006/relationships/oleObject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6.pn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49.pn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5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53.png" Type="http://schemas.openxmlformats.org/officeDocument/2006/relationships/image"/><Relationship Id="rId7" Target="../media/image54.pn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5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16.png" Type="http://schemas.openxmlformats.org/officeDocument/2006/relationships/image"/><Relationship Id="rId13" Target="../media/image17.svg" Type="http://schemas.openxmlformats.org/officeDocument/2006/relationships/image"/><Relationship Id="rId14" Target="../media/image25.png" Type="http://schemas.openxmlformats.org/officeDocument/2006/relationships/image"/><Relationship Id="rId15" Target="../media/image26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22354">
            <a:off x="-561408" y="-1081821"/>
            <a:ext cx="19410817" cy="12450641"/>
          </a:xfrm>
          <a:custGeom>
            <a:avLst/>
            <a:gdLst/>
            <a:ahLst/>
            <a:cxnLst/>
            <a:rect r="r" b="b" t="t" l="l"/>
            <a:pathLst>
              <a:path h="12450641" w="19410817">
                <a:moveTo>
                  <a:pt x="1260663" y="0"/>
                </a:moveTo>
                <a:lnTo>
                  <a:pt x="19410816" y="2241181"/>
                </a:lnTo>
                <a:lnTo>
                  <a:pt x="18150153" y="12450642"/>
                </a:lnTo>
                <a:lnTo>
                  <a:pt x="0" y="10209461"/>
                </a:lnTo>
                <a:lnTo>
                  <a:pt x="1260663" y="0"/>
                </a:lnTo>
                <a:close/>
              </a:path>
            </a:pathLst>
          </a:custGeom>
          <a:blipFill>
            <a:blip r:embed="rId2"/>
            <a:stretch>
              <a:fillRect l="-9410" t="-10632" r="-13678" b="-1722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96356" y="934094"/>
            <a:ext cx="10640862" cy="9015712"/>
          </a:xfrm>
          <a:custGeom>
            <a:avLst/>
            <a:gdLst/>
            <a:ahLst/>
            <a:cxnLst/>
            <a:rect r="r" b="b" t="t" l="l"/>
            <a:pathLst>
              <a:path h="9015712" w="10640862">
                <a:moveTo>
                  <a:pt x="0" y="0"/>
                </a:moveTo>
                <a:lnTo>
                  <a:pt x="10640862" y="0"/>
                </a:lnTo>
                <a:lnTo>
                  <a:pt x="10640862" y="9015712"/>
                </a:lnTo>
                <a:lnTo>
                  <a:pt x="0" y="90157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3675631" y="7252311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4" y="0"/>
                </a:lnTo>
                <a:lnTo>
                  <a:pt x="6649744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4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03433">
            <a:off x="5403594" y="3469092"/>
            <a:ext cx="3847072" cy="3945715"/>
          </a:xfrm>
          <a:custGeom>
            <a:avLst/>
            <a:gdLst/>
            <a:ahLst/>
            <a:cxnLst/>
            <a:rect r="r" b="b" t="t" l="l"/>
            <a:pathLst>
              <a:path h="3945715" w="3847072">
                <a:moveTo>
                  <a:pt x="0" y="0"/>
                </a:moveTo>
                <a:lnTo>
                  <a:pt x="3847072" y="0"/>
                </a:lnTo>
                <a:lnTo>
                  <a:pt x="3847072" y="3945716"/>
                </a:lnTo>
                <a:lnTo>
                  <a:pt x="0" y="39457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434942" y="559444"/>
            <a:ext cx="3836065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Ydays 2025 - 2026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64431" y="61604"/>
            <a:ext cx="379705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Paris Ynov Campus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470764" y="4052611"/>
            <a:ext cx="3304957" cy="3304957"/>
          </a:xfrm>
          <a:custGeom>
            <a:avLst/>
            <a:gdLst/>
            <a:ahLst/>
            <a:cxnLst/>
            <a:rect r="r" b="b" t="t" l="l"/>
            <a:pathLst>
              <a:path h="3304957" w="3304957">
                <a:moveTo>
                  <a:pt x="0" y="0"/>
                </a:moveTo>
                <a:lnTo>
                  <a:pt x="3304957" y="0"/>
                </a:lnTo>
                <a:lnTo>
                  <a:pt x="3304957" y="3304958"/>
                </a:lnTo>
                <a:lnTo>
                  <a:pt x="0" y="33049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9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79408" y="4110485"/>
            <a:ext cx="3496400" cy="3496400"/>
          </a:xfrm>
          <a:custGeom>
            <a:avLst/>
            <a:gdLst/>
            <a:ahLst/>
            <a:cxnLst/>
            <a:rect r="r" b="b" t="t" l="l"/>
            <a:pathLst>
              <a:path h="3496400" w="3496400">
                <a:moveTo>
                  <a:pt x="0" y="0"/>
                </a:moveTo>
                <a:lnTo>
                  <a:pt x="3496400" y="0"/>
                </a:lnTo>
                <a:lnTo>
                  <a:pt x="3496400" y="3496400"/>
                </a:lnTo>
                <a:lnTo>
                  <a:pt x="0" y="3496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63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039980">
            <a:off x="7371327" y="3932029"/>
            <a:ext cx="4090920" cy="3019843"/>
          </a:xfrm>
          <a:custGeom>
            <a:avLst/>
            <a:gdLst/>
            <a:ahLst/>
            <a:cxnLst/>
            <a:rect r="r" b="b" t="t" l="l"/>
            <a:pathLst>
              <a:path h="3019843" w="4090920">
                <a:moveTo>
                  <a:pt x="0" y="0"/>
                </a:moveTo>
                <a:lnTo>
                  <a:pt x="4090920" y="0"/>
                </a:lnTo>
                <a:lnTo>
                  <a:pt x="4090920" y="3019842"/>
                </a:lnTo>
                <a:lnTo>
                  <a:pt x="0" y="301984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693989" y="5181600"/>
            <a:ext cx="6081732" cy="1085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4"/>
              </a:lnSpc>
            </a:pPr>
            <a:r>
              <a:rPr lang="en-US" sz="73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MakeAIPrep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7476" y="7911408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6"/>
                </a:lnTo>
                <a:lnTo>
                  <a:pt x="0" y="7746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3988" y="8761586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9421570" y="2374776"/>
            <a:ext cx="1532418" cy="5077288"/>
          </a:xfrm>
          <a:custGeom>
            <a:avLst/>
            <a:gdLst/>
            <a:ahLst/>
            <a:cxnLst/>
            <a:rect r="r" b="b" t="t" l="l"/>
            <a:pathLst>
              <a:path h="5077288" w="1532418">
                <a:moveTo>
                  <a:pt x="1532418" y="5077288"/>
                </a:moveTo>
                <a:lnTo>
                  <a:pt x="0" y="5077288"/>
                </a:lnTo>
                <a:lnTo>
                  <a:pt x="0" y="0"/>
                </a:lnTo>
                <a:lnTo>
                  <a:pt x="1532418" y="0"/>
                </a:lnTo>
                <a:lnTo>
                  <a:pt x="1532418" y="507728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0744232" y="1735456"/>
            <a:ext cx="6355929" cy="6355929"/>
            <a:chOff x="0" y="0"/>
            <a:chExt cx="3282950" cy="32829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82950" cy="3282950"/>
            </a:xfrm>
            <a:custGeom>
              <a:avLst/>
              <a:gdLst/>
              <a:ahLst/>
              <a:cxnLst/>
              <a:rect r="r" b="b" t="t" l="l"/>
              <a:pathLst>
                <a:path h="3282950" w="3282950">
                  <a:moveTo>
                    <a:pt x="0" y="0"/>
                  </a:moveTo>
                  <a:lnTo>
                    <a:pt x="2532380" y="0"/>
                  </a:lnTo>
                  <a:cubicBezTo>
                    <a:pt x="2946400" y="0"/>
                    <a:pt x="3282950" y="336550"/>
                    <a:pt x="3282950" y="750570"/>
                  </a:cubicBezTo>
                  <a:lnTo>
                    <a:pt x="3282950" y="750570"/>
                  </a:lnTo>
                  <a:lnTo>
                    <a:pt x="3282950" y="3282950"/>
                  </a:lnTo>
                  <a:lnTo>
                    <a:pt x="3282950" y="3282950"/>
                  </a:lnTo>
                  <a:lnTo>
                    <a:pt x="0" y="3282950"/>
                  </a:lnTo>
                  <a:lnTo>
                    <a:pt x="0" y="328295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1569710">
            <a:off x="-1502135" y="9031897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58051" y="2079501"/>
            <a:ext cx="8622739" cy="1209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2F2F29"/>
                </a:solidFill>
                <a:latin typeface="Agrandir Tight Heavy"/>
                <a:ea typeface="Agrandir Tight Heavy"/>
                <a:cs typeface="Agrandir Tight Heavy"/>
                <a:sym typeface="Agrandir Tight Heavy"/>
              </a:rPr>
              <a:t>Contexte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983043" y="-1945972"/>
            <a:ext cx="3304957" cy="3304957"/>
          </a:xfrm>
          <a:custGeom>
            <a:avLst/>
            <a:gdLst/>
            <a:ahLst/>
            <a:cxnLst/>
            <a:rect r="r" b="b" t="t" l="l"/>
            <a:pathLst>
              <a:path h="3304957" w="3304957">
                <a:moveTo>
                  <a:pt x="0" y="0"/>
                </a:moveTo>
                <a:lnTo>
                  <a:pt x="3304957" y="0"/>
                </a:lnTo>
                <a:lnTo>
                  <a:pt x="3304957" y="3304957"/>
                </a:lnTo>
                <a:lnTo>
                  <a:pt x="0" y="33049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9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039980">
            <a:off x="17130161" y="-665935"/>
            <a:ext cx="4090920" cy="3019843"/>
          </a:xfrm>
          <a:custGeom>
            <a:avLst/>
            <a:gdLst/>
            <a:ahLst/>
            <a:cxnLst/>
            <a:rect r="r" b="b" t="t" l="l"/>
            <a:pathLst>
              <a:path h="3019843" w="4090920">
                <a:moveTo>
                  <a:pt x="0" y="0"/>
                </a:moveTo>
                <a:lnTo>
                  <a:pt x="4090920" y="0"/>
                </a:lnTo>
                <a:lnTo>
                  <a:pt x="4090920" y="3019843"/>
                </a:lnTo>
                <a:lnTo>
                  <a:pt x="0" y="30198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050028">
            <a:off x="-8332879" y="-2514307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5"/>
                </a:lnTo>
                <a:lnTo>
                  <a:pt x="0" y="774658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3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479870" y="3852998"/>
            <a:ext cx="7941700" cy="4356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Aujourd’hui, de nombreux étudiants rencontrent des difficultés à définir leur style personnel et à se présenter avec confiance dans un environnement professionnel de plus en plus exigeant.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Face à ce constat, MakeAIPrep est né de la volonté d’utiliser l’IA pour offrir des recommandations stylistiques personnalisées et adaptées aux besoins des étudiants.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370167" y="9685287"/>
            <a:ext cx="607801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-1-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7476" y="7911408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6"/>
                </a:lnTo>
                <a:lnTo>
                  <a:pt x="0" y="7746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3988" y="8761586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69710">
            <a:off x="-1502135" y="9031897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3764" y="1848110"/>
            <a:ext cx="1086890" cy="590997"/>
          </a:xfrm>
          <a:custGeom>
            <a:avLst/>
            <a:gdLst/>
            <a:ahLst/>
            <a:cxnLst/>
            <a:rect r="r" b="b" t="t" l="l"/>
            <a:pathLst>
              <a:path h="590997" w="1086890">
                <a:moveTo>
                  <a:pt x="0" y="0"/>
                </a:moveTo>
                <a:lnTo>
                  <a:pt x="1086891" y="0"/>
                </a:lnTo>
                <a:lnTo>
                  <a:pt x="1086891" y="590997"/>
                </a:lnTo>
                <a:lnTo>
                  <a:pt x="0" y="5909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3764" y="5557229"/>
            <a:ext cx="1086890" cy="590997"/>
          </a:xfrm>
          <a:custGeom>
            <a:avLst/>
            <a:gdLst/>
            <a:ahLst/>
            <a:cxnLst/>
            <a:rect r="r" b="b" t="t" l="l"/>
            <a:pathLst>
              <a:path h="590997" w="1086890">
                <a:moveTo>
                  <a:pt x="0" y="0"/>
                </a:moveTo>
                <a:lnTo>
                  <a:pt x="1086891" y="0"/>
                </a:lnTo>
                <a:lnTo>
                  <a:pt x="1086891" y="590997"/>
                </a:lnTo>
                <a:lnTo>
                  <a:pt x="0" y="5909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25935" y="127000"/>
            <a:ext cx="15151411" cy="99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1A1A1A"/>
                </a:solidFill>
                <a:latin typeface="Agrandir Tight Heavy"/>
                <a:ea typeface="Agrandir Tight Heavy"/>
                <a:cs typeface="Agrandir Tight Heavy"/>
                <a:sym typeface="Agrandir Tight Heavy"/>
              </a:rPr>
              <a:t>Finalité, objectifs et livrables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66224" y="2722687"/>
            <a:ext cx="16575031" cy="2512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0680" indent="-260340" lvl="1">
              <a:lnSpc>
                <a:spcPts val="3376"/>
              </a:lnSpc>
              <a:buFont typeface="Arial"/>
              <a:buChar char="•"/>
            </a:pPr>
            <a:r>
              <a:rPr lang="en-US" sz="241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Offri</a:t>
            </a:r>
            <a:r>
              <a:rPr lang="en-US" sz="241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r une expérience simple, intuitive et accessible.</a:t>
            </a:r>
          </a:p>
          <a:p>
            <a:pPr algn="l" marL="520680" indent="-260340" lvl="1">
              <a:lnSpc>
                <a:spcPts val="3376"/>
              </a:lnSpc>
              <a:buFont typeface="Arial"/>
              <a:buChar char="•"/>
            </a:pPr>
            <a:r>
              <a:rPr lang="en-US" sz="241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Mettre en place un pipeline DATA/IA pour la reconnaissance et la personnalisation des styles.</a:t>
            </a:r>
          </a:p>
          <a:p>
            <a:pPr algn="l" marL="520680" indent="-260340" lvl="1">
              <a:lnSpc>
                <a:spcPts val="3376"/>
              </a:lnSpc>
              <a:buFont typeface="Arial"/>
              <a:buChar char="•"/>
            </a:pPr>
            <a:r>
              <a:rPr lang="en-US" sz="241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Concevoir une identité visuelle cohérente (logo, charte, maquettes).</a:t>
            </a:r>
          </a:p>
          <a:p>
            <a:pPr algn="l" marL="520680" indent="-260340" lvl="1">
              <a:lnSpc>
                <a:spcPts val="3376"/>
              </a:lnSpc>
              <a:buFont typeface="Arial"/>
              <a:buChar char="•"/>
            </a:pPr>
            <a:r>
              <a:rPr lang="en-US" sz="241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Développer un premier prototype fonctionnel sous Flutter.</a:t>
            </a:r>
          </a:p>
          <a:p>
            <a:pPr algn="l" marL="520680" indent="-260340" lvl="1">
              <a:lnSpc>
                <a:spcPts val="3376"/>
              </a:lnSpc>
              <a:buFont typeface="Arial"/>
              <a:buChar char="•"/>
            </a:pPr>
            <a:r>
              <a:rPr lang="en-US" sz="241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Vérifier la pertinence du concept via une analyse marché &amp; concurrence.</a:t>
            </a:r>
          </a:p>
          <a:p>
            <a:pPr algn="l">
              <a:lnSpc>
                <a:spcPts val="3376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66224" y="6186381"/>
            <a:ext cx="16093076" cy="3479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Pitch &amp; storytelling du projet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Charte graphique + logo MakeAIPrep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Maquettes UI/UX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Pipeline DATA : collecte, nettoyage, analyse des styles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Base technique du projet Flutter (architecture + première page)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Analyse de marché et concurrence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Organisation projet (Trello, répartition des missions)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625935" y="1905484"/>
            <a:ext cx="1672475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</a:t>
            </a:r>
            <a:r>
              <a:rPr lang="en-US" b="true" sz="2999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nalité et objectifs du projet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25935" y="5547704"/>
            <a:ext cx="1672475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1A1A1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livrables (Semestre 1)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2059002" y="-1466372"/>
            <a:ext cx="3304957" cy="3304957"/>
          </a:xfrm>
          <a:custGeom>
            <a:avLst/>
            <a:gdLst/>
            <a:ahLst/>
            <a:cxnLst/>
            <a:rect r="r" b="b" t="t" l="l"/>
            <a:pathLst>
              <a:path h="3304957" w="3304957">
                <a:moveTo>
                  <a:pt x="0" y="0"/>
                </a:moveTo>
                <a:lnTo>
                  <a:pt x="3304957" y="0"/>
                </a:lnTo>
                <a:lnTo>
                  <a:pt x="3304957" y="3304957"/>
                </a:lnTo>
                <a:lnTo>
                  <a:pt x="0" y="33049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2039980">
            <a:off x="17271985" y="6647655"/>
            <a:ext cx="4090920" cy="3019843"/>
          </a:xfrm>
          <a:custGeom>
            <a:avLst/>
            <a:gdLst/>
            <a:ahLst/>
            <a:cxnLst/>
            <a:rect r="r" b="b" t="t" l="l"/>
            <a:pathLst>
              <a:path h="3019843" w="4090920">
                <a:moveTo>
                  <a:pt x="0" y="0"/>
                </a:moveTo>
                <a:lnTo>
                  <a:pt x="4090920" y="0"/>
                </a:lnTo>
                <a:lnTo>
                  <a:pt x="4090920" y="3019843"/>
                </a:lnTo>
                <a:lnTo>
                  <a:pt x="0" y="30198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682534" y="245630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4" y="0"/>
                </a:lnTo>
                <a:lnTo>
                  <a:pt x="6649744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370167" y="9685287"/>
            <a:ext cx="607801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-2-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7476" y="7901883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6"/>
                </a:lnTo>
                <a:lnTo>
                  <a:pt x="0" y="7746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3988" y="8761586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69710">
            <a:off x="-1502135" y="9031897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99977" y="-709102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5"/>
                </a:lnTo>
                <a:lnTo>
                  <a:pt x="0" y="7746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30832" y="-5670383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053777" y="2648105"/>
            <a:ext cx="1361859" cy="1459212"/>
            <a:chOff x="0" y="0"/>
            <a:chExt cx="622627" cy="6671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2627" cy="667136"/>
            </a:xfrm>
            <a:custGeom>
              <a:avLst/>
              <a:gdLst/>
              <a:ahLst/>
              <a:cxnLst/>
              <a:rect r="r" b="b" t="t" l="l"/>
              <a:pathLst>
                <a:path h="667136" w="622627">
                  <a:moveTo>
                    <a:pt x="68218" y="0"/>
                  </a:moveTo>
                  <a:lnTo>
                    <a:pt x="554410" y="0"/>
                  </a:lnTo>
                  <a:cubicBezTo>
                    <a:pt x="592085" y="0"/>
                    <a:pt x="622627" y="30542"/>
                    <a:pt x="622627" y="68218"/>
                  </a:cubicBezTo>
                  <a:lnTo>
                    <a:pt x="622627" y="598918"/>
                  </a:lnTo>
                  <a:cubicBezTo>
                    <a:pt x="622627" y="636594"/>
                    <a:pt x="592085" y="667136"/>
                    <a:pt x="554410" y="667136"/>
                  </a:cubicBezTo>
                  <a:lnTo>
                    <a:pt x="68218" y="667136"/>
                  </a:lnTo>
                  <a:cubicBezTo>
                    <a:pt x="30542" y="667136"/>
                    <a:pt x="0" y="636594"/>
                    <a:pt x="0" y="598918"/>
                  </a:cubicBezTo>
                  <a:lnTo>
                    <a:pt x="0" y="68218"/>
                  </a:lnTo>
                  <a:cubicBezTo>
                    <a:pt x="0" y="30542"/>
                    <a:pt x="30542" y="0"/>
                    <a:pt x="68218" y="0"/>
                  </a:cubicBezTo>
                  <a:close/>
                </a:path>
              </a:pathLst>
            </a:custGeom>
            <a:solidFill>
              <a:srgbClr val="88A9C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622627" cy="695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247489" y="2135107"/>
            <a:ext cx="993484" cy="99348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2426" r="0" b="-12426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>
            <a:off x="3373546" y="3601063"/>
            <a:ext cx="691200" cy="0"/>
          </a:xfrm>
          <a:prstGeom prst="line">
            <a:avLst/>
          </a:prstGeom>
          <a:ln cap="flat" w="9525">
            <a:solidFill>
              <a:srgbClr val="FDF7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525926" y="5423866"/>
            <a:ext cx="1361859" cy="1459212"/>
            <a:chOff x="0" y="0"/>
            <a:chExt cx="622627" cy="6671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22627" cy="667136"/>
            </a:xfrm>
            <a:custGeom>
              <a:avLst/>
              <a:gdLst/>
              <a:ahLst/>
              <a:cxnLst/>
              <a:rect r="r" b="b" t="t" l="l"/>
              <a:pathLst>
                <a:path h="667136" w="622627">
                  <a:moveTo>
                    <a:pt x="68218" y="0"/>
                  </a:moveTo>
                  <a:lnTo>
                    <a:pt x="554410" y="0"/>
                  </a:lnTo>
                  <a:cubicBezTo>
                    <a:pt x="592085" y="0"/>
                    <a:pt x="622627" y="30542"/>
                    <a:pt x="622627" y="68218"/>
                  </a:cubicBezTo>
                  <a:lnTo>
                    <a:pt x="622627" y="598918"/>
                  </a:lnTo>
                  <a:cubicBezTo>
                    <a:pt x="622627" y="636594"/>
                    <a:pt x="592085" y="667136"/>
                    <a:pt x="554410" y="667136"/>
                  </a:cubicBezTo>
                  <a:lnTo>
                    <a:pt x="68218" y="667136"/>
                  </a:lnTo>
                  <a:cubicBezTo>
                    <a:pt x="30542" y="667136"/>
                    <a:pt x="0" y="636594"/>
                    <a:pt x="0" y="598918"/>
                  </a:cubicBezTo>
                  <a:lnTo>
                    <a:pt x="0" y="68218"/>
                  </a:lnTo>
                  <a:cubicBezTo>
                    <a:pt x="0" y="30542"/>
                    <a:pt x="30542" y="0"/>
                    <a:pt x="68218" y="0"/>
                  </a:cubicBezTo>
                  <a:close/>
                </a:path>
              </a:pathLst>
            </a:custGeom>
            <a:solidFill>
              <a:srgbClr val="88A9C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622627" cy="695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10114" y="4867522"/>
            <a:ext cx="993484" cy="99348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6486" r="0" b="-6486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>
            <a:off x="1822736" y="6288678"/>
            <a:ext cx="880861" cy="0"/>
          </a:xfrm>
          <a:prstGeom prst="line">
            <a:avLst/>
          </a:prstGeom>
          <a:ln cap="flat" w="9525">
            <a:solidFill>
              <a:srgbClr val="FDF7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2409896" y="7464102"/>
            <a:ext cx="1361859" cy="1459212"/>
            <a:chOff x="0" y="0"/>
            <a:chExt cx="622627" cy="6671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2627" cy="667136"/>
            </a:xfrm>
            <a:custGeom>
              <a:avLst/>
              <a:gdLst/>
              <a:ahLst/>
              <a:cxnLst/>
              <a:rect r="r" b="b" t="t" l="l"/>
              <a:pathLst>
                <a:path h="667136" w="622627">
                  <a:moveTo>
                    <a:pt x="68218" y="0"/>
                  </a:moveTo>
                  <a:lnTo>
                    <a:pt x="554410" y="0"/>
                  </a:lnTo>
                  <a:cubicBezTo>
                    <a:pt x="592085" y="0"/>
                    <a:pt x="622627" y="30542"/>
                    <a:pt x="622627" y="68218"/>
                  </a:cubicBezTo>
                  <a:lnTo>
                    <a:pt x="622627" y="598918"/>
                  </a:lnTo>
                  <a:cubicBezTo>
                    <a:pt x="622627" y="636594"/>
                    <a:pt x="592085" y="667136"/>
                    <a:pt x="554410" y="667136"/>
                  </a:cubicBezTo>
                  <a:lnTo>
                    <a:pt x="68218" y="667136"/>
                  </a:lnTo>
                  <a:cubicBezTo>
                    <a:pt x="30542" y="667136"/>
                    <a:pt x="0" y="636594"/>
                    <a:pt x="0" y="598918"/>
                  </a:cubicBezTo>
                  <a:lnTo>
                    <a:pt x="0" y="68218"/>
                  </a:lnTo>
                  <a:cubicBezTo>
                    <a:pt x="0" y="30542"/>
                    <a:pt x="30542" y="0"/>
                    <a:pt x="68218" y="0"/>
                  </a:cubicBezTo>
                  <a:close/>
                </a:path>
              </a:pathLst>
            </a:custGeom>
            <a:solidFill>
              <a:srgbClr val="88A9C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622627" cy="695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594083" y="6967360"/>
            <a:ext cx="993484" cy="99348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-4347" r="0" b="-4347"/>
              </a:stretch>
            </a:blipFill>
          </p:spPr>
        </p:sp>
      </p:grpSp>
      <p:sp>
        <p:nvSpPr>
          <p:cNvPr name="AutoShape 24" id="24"/>
          <p:cNvSpPr/>
          <p:nvPr/>
        </p:nvSpPr>
        <p:spPr>
          <a:xfrm>
            <a:off x="2706706" y="8353465"/>
            <a:ext cx="880861" cy="0"/>
          </a:xfrm>
          <a:prstGeom prst="line">
            <a:avLst/>
          </a:prstGeom>
          <a:ln cap="flat" w="9525">
            <a:solidFill>
              <a:srgbClr val="FDF7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4240973" y="5716235"/>
            <a:ext cx="1361859" cy="1459212"/>
            <a:chOff x="0" y="0"/>
            <a:chExt cx="622627" cy="6671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22627" cy="667136"/>
            </a:xfrm>
            <a:custGeom>
              <a:avLst/>
              <a:gdLst/>
              <a:ahLst/>
              <a:cxnLst/>
              <a:rect r="r" b="b" t="t" l="l"/>
              <a:pathLst>
                <a:path h="667136" w="622627">
                  <a:moveTo>
                    <a:pt x="68218" y="0"/>
                  </a:moveTo>
                  <a:lnTo>
                    <a:pt x="554410" y="0"/>
                  </a:lnTo>
                  <a:cubicBezTo>
                    <a:pt x="592085" y="0"/>
                    <a:pt x="622627" y="30542"/>
                    <a:pt x="622627" y="68218"/>
                  </a:cubicBezTo>
                  <a:lnTo>
                    <a:pt x="622627" y="598918"/>
                  </a:lnTo>
                  <a:cubicBezTo>
                    <a:pt x="622627" y="636594"/>
                    <a:pt x="592085" y="667136"/>
                    <a:pt x="554410" y="667136"/>
                  </a:cubicBezTo>
                  <a:lnTo>
                    <a:pt x="68218" y="667136"/>
                  </a:lnTo>
                  <a:cubicBezTo>
                    <a:pt x="30542" y="667136"/>
                    <a:pt x="0" y="636594"/>
                    <a:pt x="0" y="598918"/>
                  </a:cubicBezTo>
                  <a:lnTo>
                    <a:pt x="0" y="68218"/>
                  </a:lnTo>
                  <a:cubicBezTo>
                    <a:pt x="0" y="30542"/>
                    <a:pt x="30542" y="0"/>
                    <a:pt x="68218" y="0"/>
                  </a:cubicBezTo>
                  <a:close/>
                </a:path>
              </a:pathLst>
            </a:custGeom>
            <a:solidFill>
              <a:srgbClr val="88A9C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622627" cy="695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425161" y="5219493"/>
            <a:ext cx="993484" cy="993484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1790" t="0" r="-1790" b="0"/>
              </a:stretch>
            </a:blipFill>
          </p:spPr>
        </p:sp>
      </p:grpSp>
      <p:sp>
        <p:nvSpPr>
          <p:cNvPr name="AutoShape 30" id="30"/>
          <p:cNvSpPr/>
          <p:nvPr/>
        </p:nvSpPr>
        <p:spPr>
          <a:xfrm>
            <a:off x="4481472" y="6643643"/>
            <a:ext cx="880861" cy="0"/>
          </a:xfrm>
          <a:prstGeom prst="line">
            <a:avLst/>
          </a:prstGeom>
          <a:ln cap="flat" w="9525">
            <a:solidFill>
              <a:srgbClr val="FDF7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4333067" y="8681957"/>
            <a:ext cx="1177672" cy="16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"/>
              </a:lnSpc>
            </a:pPr>
            <a:r>
              <a:rPr lang="en-US" sz="1199" b="true">
                <a:solidFill>
                  <a:srgbClr val="FDF7F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Amayas Kheloui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854915" y="6870949"/>
            <a:ext cx="1361859" cy="1459212"/>
            <a:chOff x="0" y="0"/>
            <a:chExt cx="622627" cy="6671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2627" cy="667136"/>
            </a:xfrm>
            <a:custGeom>
              <a:avLst/>
              <a:gdLst/>
              <a:ahLst/>
              <a:cxnLst/>
              <a:rect r="r" b="b" t="t" l="l"/>
              <a:pathLst>
                <a:path h="667136" w="622627">
                  <a:moveTo>
                    <a:pt x="68218" y="0"/>
                  </a:moveTo>
                  <a:lnTo>
                    <a:pt x="554410" y="0"/>
                  </a:lnTo>
                  <a:cubicBezTo>
                    <a:pt x="592085" y="0"/>
                    <a:pt x="622627" y="30542"/>
                    <a:pt x="622627" y="68218"/>
                  </a:cubicBezTo>
                  <a:lnTo>
                    <a:pt x="622627" y="598918"/>
                  </a:lnTo>
                  <a:cubicBezTo>
                    <a:pt x="622627" y="636594"/>
                    <a:pt x="592085" y="667136"/>
                    <a:pt x="554410" y="667136"/>
                  </a:cubicBezTo>
                  <a:lnTo>
                    <a:pt x="68218" y="667136"/>
                  </a:lnTo>
                  <a:cubicBezTo>
                    <a:pt x="30542" y="667136"/>
                    <a:pt x="0" y="636594"/>
                    <a:pt x="0" y="598918"/>
                  </a:cubicBezTo>
                  <a:lnTo>
                    <a:pt x="0" y="68218"/>
                  </a:lnTo>
                  <a:cubicBezTo>
                    <a:pt x="0" y="30542"/>
                    <a:pt x="30542" y="0"/>
                    <a:pt x="68218" y="0"/>
                  </a:cubicBezTo>
                  <a:close/>
                </a:path>
              </a:pathLst>
            </a:custGeom>
            <a:solidFill>
              <a:srgbClr val="88A9C3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622627" cy="695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039103" y="6386335"/>
            <a:ext cx="993484" cy="99348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 l="-1790" t="0" r="-1790" b="0"/>
              </a:stretch>
            </a:blipFill>
          </p:spPr>
        </p:sp>
      </p:grpSp>
      <p:sp>
        <p:nvSpPr>
          <p:cNvPr name="AutoShape 37" id="37"/>
          <p:cNvSpPr/>
          <p:nvPr/>
        </p:nvSpPr>
        <p:spPr>
          <a:xfrm>
            <a:off x="10057566" y="7807111"/>
            <a:ext cx="880861" cy="0"/>
          </a:xfrm>
          <a:prstGeom prst="line">
            <a:avLst/>
          </a:prstGeom>
          <a:ln cap="flat" w="9525">
            <a:solidFill>
              <a:srgbClr val="FDF7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1621348" y="6197604"/>
            <a:ext cx="1361859" cy="1459212"/>
            <a:chOff x="0" y="0"/>
            <a:chExt cx="622627" cy="6671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22627" cy="667136"/>
            </a:xfrm>
            <a:custGeom>
              <a:avLst/>
              <a:gdLst/>
              <a:ahLst/>
              <a:cxnLst/>
              <a:rect r="r" b="b" t="t" l="l"/>
              <a:pathLst>
                <a:path h="667136" w="622627">
                  <a:moveTo>
                    <a:pt x="68218" y="0"/>
                  </a:moveTo>
                  <a:lnTo>
                    <a:pt x="554410" y="0"/>
                  </a:lnTo>
                  <a:cubicBezTo>
                    <a:pt x="592085" y="0"/>
                    <a:pt x="622627" y="30542"/>
                    <a:pt x="622627" y="68218"/>
                  </a:cubicBezTo>
                  <a:lnTo>
                    <a:pt x="622627" y="598918"/>
                  </a:lnTo>
                  <a:cubicBezTo>
                    <a:pt x="622627" y="636594"/>
                    <a:pt x="592085" y="667136"/>
                    <a:pt x="554410" y="667136"/>
                  </a:cubicBezTo>
                  <a:lnTo>
                    <a:pt x="68218" y="667136"/>
                  </a:lnTo>
                  <a:cubicBezTo>
                    <a:pt x="30542" y="667136"/>
                    <a:pt x="0" y="636594"/>
                    <a:pt x="0" y="598918"/>
                  </a:cubicBezTo>
                  <a:lnTo>
                    <a:pt x="0" y="68218"/>
                  </a:lnTo>
                  <a:cubicBezTo>
                    <a:pt x="0" y="30542"/>
                    <a:pt x="30542" y="0"/>
                    <a:pt x="68218" y="0"/>
                  </a:cubicBezTo>
                  <a:close/>
                </a:path>
              </a:pathLst>
            </a:custGeom>
            <a:solidFill>
              <a:srgbClr val="88A9C3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622627" cy="695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805536" y="5668610"/>
            <a:ext cx="993484" cy="993484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2"/>
              <a:stretch>
                <a:fillRect l="0" t="-19047" r="0" b="-19047"/>
              </a:stretch>
            </a:blipFill>
          </p:spPr>
        </p:sp>
      </p:grpSp>
      <p:sp>
        <p:nvSpPr>
          <p:cNvPr name="AutoShape 43" id="43"/>
          <p:cNvSpPr/>
          <p:nvPr/>
        </p:nvSpPr>
        <p:spPr>
          <a:xfrm>
            <a:off x="11886504" y="7037483"/>
            <a:ext cx="880861" cy="0"/>
          </a:xfrm>
          <a:prstGeom prst="line">
            <a:avLst/>
          </a:prstGeom>
          <a:ln cap="flat" w="9525">
            <a:solidFill>
              <a:srgbClr val="FDF7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4" id="44"/>
          <p:cNvGrpSpPr/>
          <p:nvPr/>
        </p:nvGrpSpPr>
        <p:grpSpPr>
          <a:xfrm rot="0">
            <a:off x="10769800" y="2765292"/>
            <a:ext cx="1361859" cy="1459212"/>
            <a:chOff x="0" y="0"/>
            <a:chExt cx="622627" cy="6671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2627" cy="667136"/>
            </a:xfrm>
            <a:custGeom>
              <a:avLst/>
              <a:gdLst/>
              <a:ahLst/>
              <a:cxnLst/>
              <a:rect r="r" b="b" t="t" l="l"/>
              <a:pathLst>
                <a:path h="667136" w="622627">
                  <a:moveTo>
                    <a:pt x="68218" y="0"/>
                  </a:moveTo>
                  <a:lnTo>
                    <a:pt x="554410" y="0"/>
                  </a:lnTo>
                  <a:cubicBezTo>
                    <a:pt x="592085" y="0"/>
                    <a:pt x="622627" y="30542"/>
                    <a:pt x="622627" y="68218"/>
                  </a:cubicBezTo>
                  <a:lnTo>
                    <a:pt x="622627" y="598918"/>
                  </a:lnTo>
                  <a:cubicBezTo>
                    <a:pt x="622627" y="636594"/>
                    <a:pt x="592085" y="667136"/>
                    <a:pt x="554410" y="667136"/>
                  </a:cubicBezTo>
                  <a:lnTo>
                    <a:pt x="68218" y="667136"/>
                  </a:lnTo>
                  <a:cubicBezTo>
                    <a:pt x="30542" y="667136"/>
                    <a:pt x="0" y="636594"/>
                    <a:pt x="0" y="598918"/>
                  </a:cubicBezTo>
                  <a:lnTo>
                    <a:pt x="0" y="68218"/>
                  </a:lnTo>
                  <a:cubicBezTo>
                    <a:pt x="0" y="30542"/>
                    <a:pt x="30542" y="0"/>
                    <a:pt x="68218" y="0"/>
                  </a:cubicBezTo>
                  <a:close/>
                </a:path>
              </a:pathLst>
            </a:custGeom>
            <a:solidFill>
              <a:srgbClr val="88A9C3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622627" cy="695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973038" y="2320510"/>
            <a:ext cx="993484" cy="993484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3"/>
              <a:stretch>
                <a:fillRect l="0" t="-9177" r="0" b="-9177"/>
              </a:stretch>
            </a:blipFill>
          </p:spPr>
        </p:sp>
      </p:grpSp>
      <p:sp>
        <p:nvSpPr>
          <p:cNvPr name="AutoShape 49" id="49"/>
          <p:cNvSpPr/>
          <p:nvPr/>
        </p:nvSpPr>
        <p:spPr>
          <a:xfrm>
            <a:off x="11057924" y="3745208"/>
            <a:ext cx="880861" cy="0"/>
          </a:xfrm>
          <a:prstGeom prst="line">
            <a:avLst/>
          </a:prstGeom>
          <a:ln cap="flat" w="9525">
            <a:solidFill>
              <a:srgbClr val="FDF7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4737715" y="7737418"/>
            <a:ext cx="1361859" cy="1459212"/>
            <a:chOff x="0" y="0"/>
            <a:chExt cx="622627" cy="6671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22627" cy="667136"/>
            </a:xfrm>
            <a:custGeom>
              <a:avLst/>
              <a:gdLst/>
              <a:ahLst/>
              <a:cxnLst/>
              <a:rect r="r" b="b" t="t" l="l"/>
              <a:pathLst>
                <a:path h="667136" w="622627">
                  <a:moveTo>
                    <a:pt x="68218" y="0"/>
                  </a:moveTo>
                  <a:lnTo>
                    <a:pt x="554410" y="0"/>
                  </a:lnTo>
                  <a:cubicBezTo>
                    <a:pt x="592085" y="0"/>
                    <a:pt x="622627" y="30542"/>
                    <a:pt x="622627" y="68218"/>
                  </a:cubicBezTo>
                  <a:lnTo>
                    <a:pt x="622627" y="598918"/>
                  </a:lnTo>
                  <a:cubicBezTo>
                    <a:pt x="622627" y="636594"/>
                    <a:pt x="592085" y="667136"/>
                    <a:pt x="554410" y="667136"/>
                  </a:cubicBezTo>
                  <a:lnTo>
                    <a:pt x="68218" y="667136"/>
                  </a:lnTo>
                  <a:cubicBezTo>
                    <a:pt x="30542" y="667136"/>
                    <a:pt x="0" y="636594"/>
                    <a:pt x="0" y="598918"/>
                  </a:cubicBezTo>
                  <a:lnTo>
                    <a:pt x="0" y="68218"/>
                  </a:lnTo>
                  <a:cubicBezTo>
                    <a:pt x="0" y="30542"/>
                    <a:pt x="30542" y="0"/>
                    <a:pt x="68218" y="0"/>
                  </a:cubicBezTo>
                  <a:close/>
                </a:path>
              </a:pathLst>
            </a:custGeom>
            <a:solidFill>
              <a:srgbClr val="88A9C3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622627" cy="695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921903" y="7405141"/>
            <a:ext cx="993484" cy="993484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4"/>
              <a:stretch>
                <a:fillRect l="0" t="-3254" r="0" b="-3254"/>
              </a:stretch>
            </a:blipFill>
          </p:spPr>
        </p:sp>
      </p:grpSp>
      <p:sp>
        <p:nvSpPr>
          <p:cNvPr name="AutoShape 55" id="55"/>
          <p:cNvSpPr/>
          <p:nvPr/>
        </p:nvSpPr>
        <p:spPr>
          <a:xfrm>
            <a:off x="4999809" y="8728249"/>
            <a:ext cx="880861" cy="0"/>
          </a:xfrm>
          <a:prstGeom prst="line">
            <a:avLst/>
          </a:prstGeom>
          <a:ln cap="flat" w="9525">
            <a:solidFill>
              <a:srgbClr val="FDF7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6" id="56"/>
          <p:cNvSpPr/>
          <p:nvPr/>
        </p:nvSpPr>
        <p:spPr>
          <a:xfrm flipH="false" flipV="false" rot="0">
            <a:off x="8241172" y="3745208"/>
            <a:ext cx="1457945" cy="1457945"/>
          </a:xfrm>
          <a:custGeom>
            <a:avLst/>
            <a:gdLst/>
            <a:ahLst/>
            <a:cxnLst/>
            <a:rect r="r" b="b" t="t" l="l"/>
            <a:pathLst>
              <a:path h="1457945" w="1457945">
                <a:moveTo>
                  <a:pt x="0" y="0"/>
                </a:moveTo>
                <a:lnTo>
                  <a:pt x="1457946" y="0"/>
                </a:lnTo>
                <a:lnTo>
                  <a:pt x="1457946" y="1457945"/>
                </a:lnTo>
                <a:lnTo>
                  <a:pt x="0" y="145794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2039980">
            <a:off x="6892789" y="3186180"/>
            <a:ext cx="2008375" cy="1482546"/>
          </a:xfrm>
          <a:custGeom>
            <a:avLst/>
            <a:gdLst/>
            <a:ahLst/>
            <a:cxnLst/>
            <a:rect r="r" b="b" t="t" l="l"/>
            <a:pathLst>
              <a:path h="1482546" w="2008375">
                <a:moveTo>
                  <a:pt x="0" y="0"/>
                </a:moveTo>
                <a:lnTo>
                  <a:pt x="2008375" y="0"/>
                </a:lnTo>
                <a:lnTo>
                  <a:pt x="2008375" y="1482546"/>
                </a:lnTo>
                <a:lnTo>
                  <a:pt x="0" y="148254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6491303" y="3687738"/>
            <a:ext cx="1572885" cy="1572885"/>
          </a:xfrm>
          <a:custGeom>
            <a:avLst/>
            <a:gdLst/>
            <a:ahLst/>
            <a:cxnLst/>
            <a:rect r="r" b="b" t="t" l="l"/>
            <a:pathLst>
              <a:path h="1572885" w="1572885">
                <a:moveTo>
                  <a:pt x="0" y="0"/>
                </a:moveTo>
                <a:lnTo>
                  <a:pt x="1572886" y="0"/>
                </a:lnTo>
                <a:lnTo>
                  <a:pt x="1572886" y="1572885"/>
                </a:lnTo>
                <a:lnTo>
                  <a:pt x="0" y="157288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6232798" y="4028735"/>
            <a:ext cx="4016749" cy="54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0"/>
              </a:lnSpc>
            </a:pPr>
            <a:r>
              <a:rPr lang="en-US" sz="37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MakeAIPrep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1403433">
            <a:off x="5916121" y="3227839"/>
            <a:ext cx="2064957" cy="2117905"/>
          </a:xfrm>
          <a:custGeom>
            <a:avLst/>
            <a:gdLst/>
            <a:ahLst/>
            <a:cxnLst/>
            <a:rect r="r" b="b" t="t" l="l"/>
            <a:pathLst>
              <a:path h="2117905" w="2064957">
                <a:moveTo>
                  <a:pt x="0" y="0"/>
                </a:moveTo>
                <a:lnTo>
                  <a:pt x="2064957" y="0"/>
                </a:lnTo>
                <a:lnTo>
                  <a:pt x="2064957" y="2117905"/>
                </a:lnTo>
                <a:lnTo>
                  <a:pt x="0" y="211790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8493829" y="2421805"/>
            <a:ext cx="2410577" cy="644539"/>
          </a:xfrm>
          <a:custGeom>
            <a:avLst/>
            <a:gdLst/>
            <a:ahLst/>
            <a:cxnLst/>
            <a:rect r="r" b="b" t="t" l="l"/>
            <a:pathLst>
              <a:path h="644539" w="2410577">
                <a:moveTo>
                  <a:pt x="0" y="0"/>
                </a:moveTo>
                <a:lnTo>
                  <a:pt x="2410577" y="0"/>
                </a:lnTo>
                <a:lnTo>
                  <a:pt x="2410577" y="644539"/>
                </a:lnTo>
                <a:lnTo>
                  <a:pt x="0" y="64453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1639111">
            <a:off x="8834214" y="5227677"/>
            <a:ext cx="1643128" cy="654264"/>
          </a:xfrm>
          <a:custGeom>
            <a:avLst/>
            <a:gdLst/>
            <a:ahLst/>
            <a:cxnLst/>
            <a:rect r="r" b="b" t="t" l="l"/>
            <a:pathLst>
              <a:path h="654264" w="1643128">
                <a:moveTo>
                  <a:pt x="0" y="0"/>
                </a:moveTo>
                <a:lnTo>
                  <a:pt x="1643128" y="0"/>
                </a:lnTo>
                <a:lnTo>
                  <a:pt x="1643128" y="654264"/>
                </a:lnTo>
                <a:lnTo>
                  <a:pt x="0" y="65426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3311156">
            <a:off x="6131463" y="5036431"/>
            <a:ext cx="510963" cy="1527335"/>
          </a:xfrm>
          <a:custGeom>
            <a:avLst/>
            <a:gdLst/>
            <a:ahLst/>
            <a:cxnLst/>
            <a:rect r="r" b="b" t="t" l="l"/>
            <a:pathLst>
              <a:path h="1527335" w="510963">
                <a:moveTo>
                  <a:pt x="0" y="0"/>
                </a:moveTo>
                <a:lnTo>
                  <a:pt x="510963" y="0"/>
                </a:lnTo>
                <a:lnTo>
                  <a:pt x="510963" y="1527335"/>
                </a:lnTo>
                <a:lnTo>
                  <a:pt x="0" y="152733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6974706">
            <a:off x="5160046" y="1676702"/>
            <a:ext cx="736996" cy="1988560"/>
          </a:xfrm>
          <a:custGeom>
            <a:avLst/>
            <a:gdLst/>
            <a:ahLst/>
            <a:cxnLst/>
            <a:rect r="r" b="b" t="t" l="l"/>
            <a:pathLst>
              <a:path h="1988560" w="736996">
                <a:moveTo>
                  <a:pt x="0" y="0"/>
                </a:moveTo>
                <a:lnTo>
                  <a:pt x="736996" y="0"/>
                </a:lnTo>
                <a:lnTo>
                  <a:pt x="736996" y="1988560"/>
                </a:lnTo>
                <a:lnTo>
                  <a:pt x="0" y="198856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7174340" y="6278207"/>
            <a:ext cx="1361859" cy="1459212"/>
            <a:chOff x="0" y="0"/>
            <a:chExt cx="622627" cy="6671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22627" cy="667136"/>
            </a:xfrm>
            <a:custGeom>
              <a:avLst/>
              <a:gdLst/>
              <a:ahLst/>
              <a:cxnLst/>
              <a:rect r="r" b="b" t="t" l="l"/>
              <a:pathLst>
                <a:path h="667136" w="622627">
                  <a:moveTo>
                    <a:pt x="68218" y="0"/>
                  </a:moveTo>
                  <a:lnTo>
                    <a:pt x="554410" y="0"/>
                  </a:lnTo>
                  <a:cubicBezTo>
                    <a:pt x="592085" y="0"/>
                    <a:pt x="622627" y="30542"/>
                    <a:pt x="622627" y="68218"/>
                  </a:cubicBezTo>
                  <a:lnTo>
                    <a:pt x="622627" y="598918"/>
                  </a:lnTo>
                  <a:cubicBezTo>
                    <a:pt x="622627" y="636594"/>
                    <a:pt x="592085" y="667136"/>
                    <a:pt x="554410" y="667136"/>
                  </a:cubicBezTo>
                  <a:lnTo>
                    <a:pt x="68218" y="667136"/>
                  </a:lnTo>
                  <a:cubicBezTo>
                    <a:pt x="30542" y="667136"/>
                    <a:pt x="0" y="636594"/>
                    <a:pt x="0" y="598918"/>
                  </a:cubicBezTo>
                  <a:lnTo>
                    <a:pt x="0" y="68218"/>
                  </a:lnTo>
                  <a:cubicBezTo>
                    <a:pt x="0" y="30542"/>
                    <a:pt x="30542" y="0"/>
                    <a:pt x="68218" y="0"/>
                  </a:cubicBezTo>
                  <a:close/>
                </a:path>
              </a:pathLst>
            </a:custGeom>
            <a:solidFill>
              <a:srgbClr val="88A9C3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622627" cy="6957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359806" y="5801960"/>
            <a:ext cx="993484" cy="993484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1"/>
              <a:stretch>
                <a:fillRect l="0" t="-15985" r="0" b="-15985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028700" y="521065"/>
            <a:ext cx="12002132" cy="108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2F2F29"/>
                </a:solidFill>
                <a:latin typeface="Agrandir Tight Heavy"/>
                <a:ea typeface="Agrandir Tight Heavy"/>
                <a:cs typeface="Agrandir Tight Heavy"/>
                <a:sym typeface="Agrandir Tight Heavy"/>
              </a:rPr>
              <a:t>PRÉSENTATION DE L’ÉQUIPE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536199" y="9631189"/>
            <a:ext cx="607801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-3-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3178269" y="3173715"/>
            <a:ext cx="1062704" cy="32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"/>
              </a:lnSpc>
            </a:pPr>
            <a:r>
              <a:rPr lang="en-US" sz="1199" b="true">
                <a:solidFill>
                  <a:srgbClr val="FDF7F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Neha MUSHTAQ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3187794" y="3682025"/>
            <a:ext cx="1062704" cy="26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"/>
              </a:lnSpc>
            </a:pPr>
            <a:r>
              <a:rPr lang="en-US" b="true" sz="1000" i="true">
                <a:solidFill>
                  <a:srgbClr val="FDF7F0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Marketing et communication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33580" y="6022931"/>
            <a:ext cx="1177672" cy="16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"/>
              </a:lnSpc>
            </a:pPr>
            <a:r>
              <a:rPr lang="en-US" sz="1199" b="true">
                <a:solidFill>
                  <a:srgbClr val="FDF7F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Yuba Ben Bekkou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710114" y="6445841"/>
            <a:ext cx="1062704" cy="14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"/>
              </a:lnSpc>
            </a:pPr>
            <a:r>
              <a:rPr lang="en-US" b="true" sz="1000" i="true">
                <a:solidFill>
                  <a:srgbClr val="FDF7F0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DATA 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552455" y="8094194"/>
            <a:ext cx="1177672" cy="16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"/>
              </a:lnSpc>
            </a:pPr>
            <a:r>
              <a:rPr lang="en-US" sz="1199" b="true">
                <a:solidFill>
                  <a:srgbClr val="FDF7F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Amayas KHELOUI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2594083" y="8510627"/>
            <a:ext cx="1062704" cy="14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"/>
              </a:lnSpc>
            </a:pPr>
            <a:r>
              <a:rPr lang="en-US" b="true" sz="1000" i="true">
                <a:solidFill>
                  <a:srgbClr val="FDF7F0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DATA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358152" y="6270073"/>
            <a:ext cx="1177672" cy="32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"/>
              </a:lnSpc>
            </a:pPr>
            <a:r>
              <a:rPr lang="en-US" sz="1199" b="true">
                <a:solidFill>
                  <a:srgbClr val="FDF7F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Etia-anaelle SAKOA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415636" y="6781795"/>
            <a:ext cx="1062704" cy="14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"/>
              </a:lnSpc>
            </a:pPr>
            <a:r>
              <a:rPr lang="en-US" b="true" sz="1000" i="true">
                <a:solidFill>
                  <a:srgbClr val="FDF7F0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DATA 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924721" y="7389344"/>
            <a:ext cx="1177672" cy="32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"/>
              </a:lnSpc>
            </a:pPr>
            <a:r>
              <a:rPr lang="en-US" sz="1199" b="true">
                <a:solidFill>
                  <a:srgbClr val="FDF7F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Lynsey TANCELIN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925893" y="7960844"/>
            <a:ext cx="1062704" cy="14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"/>
              </a:lnSpc>
            </a:pPr>
            <a:r>
              <a:rPr lang="en-US" b="true" sz="1000" i="true">
                <a:solidFill>
                  <a:srgbClr val="FDF7F0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DEV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1713442" y="6791320"/>
            <a:ext cx="1177672" cy="16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"/>
              </a:lnSpc>
            </a:pPr>
            <a:r>
              <a:rPr lang="en-US" sz="1199" b="true">
                <a:solidFill>
                  <a:srgbClr val="FDF7F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Aimery GARCIA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1736316" y="7175446"/>
            <a:ext cx="1062704" cy="14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"/>
              </a:lnSpc>
            </a:pPr>
            <a:r>
              <a:rPr lang="en-US" b="true" sz="1000" i="true">
                <a:solidFill>
                  <a:srgbClr val="FDF7F0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DEV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0880944" y="3323519"/>
            <a:ext cx="1177672" cy="32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"/>
              </a:lnSpc>
            </a:pPr>
            <a:r>
              <a:rPr lang="en-US" sz="1199" b="true">
                <a:solidFill>
                  <a:srgbClr val="FDF7F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Jenny BRANDY CHOUFAK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0988598" y="3854745"/>
            <a:ext cx="1062704" cy="14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"/>
              </a:lnSpc>
            </a:pPr>
            <a:r>
              <a:rPr lang="en-US" b="true" sz="1000" i="true">
                <a:solidFill>
                  <a:srgbClr val="FDF7F0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DESIGN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4829809" y="8476549"/>
            <a:ext cx="1177672" cy="16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"/>
              </a:lnSpc>
            </a:pPr>
            <a:r>
              <a:rPr lang="en-US" sz="1199" b="true">
                <a:solidFill>
                  <a:srgbClr val="FDF7F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Karim CHAMI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4921903" y="8809211"/>
            <a:ext cx="1062704" cy="14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"/>
              </a:lnSpc>
            </a:pPr>
            <a:r>
              <a:rPr lang="en-US" b="true" sz="1000" i="true">
                <a:solidFill>
                  <a:srgbClr val="FDF7F0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DATA 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7266434" y="6847581"/>
            <a:ext cx="1177672" cy="168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"/>
              </a:lnSpc>
            </a:pPr>
            <a:r>
              <a:rPr lang="en-US" sz="1199" b="true">
                <a:solidFill>
                  <a:srgbClr val="FDF7F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Sonia SAI</a:t>
            </a:r>
          </a:p>
        </p:txBody>
      </p:sp>
      <p:sp>
        <p:nvSpPr>
          <p:cNvPr name="AutoShape 89" id="89"/>
          <p:cNvSpPr/>
          <p:nvPr/>
        </p:nvSpPr>
        <p:spPr>
          <a:xfrm>
            <a:off x="7416117" y="7106851"/>
            <a:ext cx="880861" cy="0"/>
          </a:xfrm>
          <a:prstGeom prst="line">
            <a:avLst/>
          </a:prstGeom>
          <a:ln cap="flat" w="9525">
            <a:solidFill>
              <a:srgbClr val="FDF7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0" id="90"/>
          <p:cNvSpPr txBox="true"/>
          <p:nvPr/>
        </p:nvSpPr>
        <p:spPr>
          <a:xfrm rot="0">
            <a:off x="7325196" y="7259726"/>
            <a:ext cx="1062704" cy="14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0"/>
              </a:lnSpc>
            </a:pPr>
            <a:r>
              <a:rPr lang="en-US" b="true" sz="1000" i="true">
                <a:solidFill>
                  <a:srgbClr val="FDF7F0"/>
                </a:solidFill>
                <a:latin typeface="TT Chocolates Bold Italics"/>
                <a:ea typeface="TT Chocolates Bold Italics"/>
                <a:cs typeface="TT Chocolates Bold Italics"/>
                <a:sym typeface="TT Chocolates Bold Italics"/>
              </a:rPr>
              <a:t>cheffe de projet</a:t>
            </a:r>
          </a:p>
        </p:txBody>
      </p:sp>
      <p:sp>
        <p:nvSpPr>
          <p:cNvPr name="Freeform 91" id="91"/>
          <p:cNvSpPr/>
          <p:nvPr/>
        </p:nvSpPr>
        <p:spPr>
          <a:xfrm flipH="false" flipV="false" rot="4270254">
            <a:off x="7651992" y="5072281"/>
            <a:ext cx="990618" cy="394446"/>
          </a:xfrm>
          <a:custGeom>
            <a:avLst/>
            <a:gdLst/>
            <a:ahLst/>
            <a:cxnLst/>
            <a:rect r="r" b="b" t="t" l="l"/>
            <a:pathLst>
              <a:path h="394446" w="990618">
                <a:moveTo>
                  <a:pt x="0" y="0"/>
                </a:moveTo>
                <a:lnTo>
                  <a:pt x="990618" y="0"/>
                </a:lnTo>
                <a:lnTo>
                  <a:pt x="990618" y="394446"/>
                </a:lnTo>
                <a:lnTo>
                  <a:pt x="0" y="39444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7476" y="8268096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5"/>
                </a:lnTo>
                <a:lnTo>
                  <a:pt x="0" y="774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3988" y="8761586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69710">
            <a:off x="-1502135" y="9031897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2856061" y="2870522"/>
          <a:ext cx="7543800" cy="2514600"/>
        </p:xfrm>
        <a:graphic>
          <a:graphicData uri="http://schemas.openxmlformats.org/presentationml/2006/ole">
            <p:oleObj imgW="9042400" imgH="4013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822736" y="518796"/>
            <a:ext cx="13886053" cy="81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b="true" sz="4100">
                <a:solidFill>
                  <a:srgbClr val="2F2F29"/>
                </a:solidFill>
                <a:latin typeface="Agrandir Tight Heavy"/>
                <a:ea typeface="Agrandir Tight Heavy"/>
                <a:cs typeface="Agrandir Tight Heavy"/>
                <a:sym typeface="Agrandir Tight Heavy"/>
              </a:rPr>
              <a:t>Analyse Concurrentielle : Notre Positionnement Unique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89538" y="1491578"/>
            <a:ext cx="1657942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2F2F29"/>
                </a:solidFill>
                <a:latin typeface="Open Sans"/>
                <a:ea typeface="Open Sans"/>
                <a:cs typeface="Open Sans"/>
                <a:sym typeface="Open Sans"/>
              </a:rPr>
              <a:t>Face aux </a:t>
            </a:r>
            <a:r>
              <a:rPr lang="en-US" sz="3000">
                <a:solidFill>
                  <a:srgbClr val="2F2F29"/>
                </a:solidFill>
                <a:latin typeface="Open Sans"/>
                <a:ea typeface="Open Sans"/>
                <a:cs typeface="Open Sans"/>
                <a:sym typeface="Open Sans"/>
              </a:rPr>
              <a:t>offres existantes, MakeAIPrep se distingue par une approche holistique et innovante, répondant aux besoins spécifiques des étudiants.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0" y="8210946"/>
            <a:ext cx="18288000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 b="true">
                <a:solidFill>
                  <a:srgbClr val="2F2F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Make</a:t>
            </a:r>
            <a:r>
              <a:rPr lang="en-US" b="true" sz="2900">
                <a:solidFill>
                  <a:srgbClr val="2F2F29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AIPrep</a:t>
            </a:r>
            <a:r>
              <a:rPr lang="en-US" sz="2900">
                <a:solidFill>
                  <a:srgbClr val="2F2F29"/>
                </a:solidFill>
                <a:latin typeface="Open Sans"/>
                <a:ea typeface="Open Sans"/>
                <a:cs typeface="Open Sans"/>
                <a:sym typeface="Open Sans"/>
              </a:rPr>
              <a:t> combine ateliers humains et IA générative avec un focus professionnel, une gratuité et une inclusion totale, offrant un mix complet sans équivalent sur le marché.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88599" y="9783589"/>
            <a:ext cx="607801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-4-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7658015" y="188136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5"/>
                </a:lnTo>
                <a:lnTo>
                  <a:pt x="0" y="774658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9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682534" y="245630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4" y="0"/>
                </a:lnTo>
                <a:lnTo>
                  <a:pt x="6649744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>
            <a:off x="2806912" y="499746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7476" y="7911408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6"/>
                </a:lnTo>
                <a:lnTo>
                  <a:pt x="0" y="7746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3988" y="8761586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69710">
            <a:off x="-1502135" y="9031897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51894" y="-543748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5"/>
                </a:lnTo>
                <a:lnTo>
                  <a:pt x="0" y="7746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7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2806912" y="499746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536199" y="9631189"/>
            <a:ext cx="607801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-5-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1369" y="1152341"/>
            <a:ext cx="14462150" cy="165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60"/>
              </a:lnSpc>
            </a:pPr>
            <a:r>
              <a:rPr lang="en-US" sz="24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</a:t>
            </a:r>
            <a:r>
              <a:rPr lang="en-US" b="true" sz="24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otre Cible</a:t>
            </a:r>
          </a:p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Cible Principale : Étudiants Ynov (B1 à M2)</a:t>
            </a:r>
          </a:p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Cible Secondaire : Staff, communication interne, écoles partenaires</a:t>
            </a:r>
          </a:p>
          <a:p>
            <a:pPr algn="just" marL="518165" indent="-259082" lvl="1">
              <a:lnSpc>
                <a:spcPts val="336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Persona Type : Léa, 21 ans, Ne sait pas comment adapter son look pour son entretien d’alternance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74940" y="6498094"/>
            <a:ext cx="6082082" cy="319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1"/>
              </a:lnSpc>
            </a:pPr>
            <a:r>
              <a:rPr lang="en-US" sz="182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8) Plan de communication</a:t>
            </a:r>
          </a:p>
          <a:p>
            <a:pPr algn="l">
              <a:lnSpc>
                <a:spcPts val="2561"/>
              </a:lnSpc>
            </a:pPr>
            <a:r>
              <a:rPr lang="en-US" sz="18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Avant les ateliers (Teasing &amp; lancement)</a:t>
            </a:r>
          </a:p>
          <a:p>
            <a:pPr algn="l" marL="395031" indent="-197516" lvl="1">
              <a:lnSpc>
                <a:spcPts val="2561"/>
              </a:lnSpc>
              <a:buFont typeface="Arial"/>
              <a:buChar char="•"/>
            </a:pPr>
            <a:r>
              <a:rPr lang="en-US" sz="18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Identité visuelle + logo MakeAIPrep</a:t>
            </a:r>
          </a:p>
          <a:p>
            <a:pPr algn="l" marL="395031" indent="-197516" lvl="1">
              <a:lnSpc>
                <a:spcPts val="2561"/>
              </a:lnSpc>
              <a:buFont typeface="Arial"/>
              <a:buChar char="•"/>
            </a:pPr>
            <a:r>
              <a:rPr lang="en-US" sz="18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Création d’un slogan</a:t>
            </a:r>
          </a:p>
          <a:p>
            <a:pPr algn="l" marL="395031" indent="-197516" lvl="1">
              <a:lnSpc>
                <a:spcPts val="2561"/>
              </a:lnSpc>
              <a:buFont typeface="Arial"/>
              <a:buChar char="•"/>
            </a:pPr>
            <a:r>
              <a:rPr lang="en-US" sz="18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Posters affichés sur le campus</a:t>
            </a:r>
          </a:p>
          <a:p>
            <a:pPr algn="l" marL="395031" indent="-197516" lvl="1">
              <a:lnSpc>
                <a:spcPts val="2561"/>
              </a:lnSpc>
              <a:buFont typeface="Arial"/>
              <a:buChar char="•"/>
            </a:pPr>
            <a:r>
              <a:rPr lang="en-US" sz="18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Stories Instagram internes + LinkedIn</a:t>
            </a:r>
          </a:p>
          <a:p>
            <a:pPr algn="l" marL="395031" indent="-197516" lvl="1">
              <a:lnSpc>
                <a:spcPts val="2561"/>
              </a:lnSpc>
              <a:buFont typeface="Arial"/>
              <a:buChar char="•"/>
            </a:pPr>
            <a:r>
              <a:rPr lang="en-US" sz="182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Vidéo teaser courte : “Et si l’IA pouvait booster ta confiance pro ?”</a:t>
            </a:r>
          </a:p>
          <a:p>
            <a:pPr algn="l">
              <a:lnSpc>
                <a:spcPts val="2561"/>
              </a:lnSpc>
            </a:pPr>
          </a:p>
          <a:p>
            <a:pPr algn="l">
              <a:lnSpc>
                <a:spcPts val="2561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21369" y="3262897"/>
            <a:ext cx="9853985" cy="2920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2"/>
              </a:lnSpc>
            </a:pPr>
            <a:r>
              <a:rPr lang="en-US" sz="238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</a:t>
            </a:r>
            <a:r>
              <a:rPr lang="en-US" b="true" sz="238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jectifs</a:t>
            </a:r>
          </a:p>
          <a:p>
            <a:pPr algn="l" marL="513854" indent="-256927" lvl="1">
              <a:lnSpc>
                <a:spcPts val="3332"/>
              </a:lnSpc>
              <a:buFont typeface="Arial"/>
              <a:buChar char="•"/>
            </a:pPr>
            <a:r>
              <a:rPr lang="en-US" sz="23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Faire connaître MakeAIPrep auprès des étudiants Ynov.</a:t>
            </a:r>
          </a:p>
          <a:p>
            <a:pPr algn="l" marL="513854" indent="-256927" lvl="1">
              <a:lnSpc>
                <a:spcPts val="3332"/>
              </a:lnSpc>
              <a:buFont typeface="Arial"/>
              <a:buChar char="•"/>
            </a:pPr>
            <a:r>
              <a:rPr lang="en-US" sz="23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Créer un engouement autour des ateliers (inscriptions complètes).</a:t>
            </a:r>
          </a:p>
          <a:p>
            <a:pPr algn="l" marL="513854" indent="-256927" lvl="1">
              <a:lnSpc>
                <a:spcPts val="3332"/>
              </a:lnSpc>
              <a:buFont typeface="Arial"/>
              <a:buChar char="•"/>
            </a:pPr>
            <a:r>
              <a:rPr lang="en-US" sz="23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Valoriser les résultats visuels (avant/après, témoignages).</a:t>
            </a:r>
          </a:p>
          <a:p>
            <a:pPr algn="l" marL="513854" indent="-256927" lvl="1">
              <a:lnSpc>
                <a:spcPts val="3332"/>
              </a:lnSpc>
              <a:buFont typeface="Arial"/>
              <a:buChar char="•"/>
            </a:pPr>
            <a:r>
              <a:rPr lang="en-US" sz="23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Promouvoir l’innovation IA et l’approche professionnelle du projet.</a:t>
            </a:r>
          </a:p>
          <a:p>
            <a:pPr algn="l" marL="513854" indent="-256927" lvl="1">
              <a:lnSpc>
                <a:spcPts val="3332"/>
              </a:lnSpc>
              <a:buFont typeface="Arial"/>
              <a:buChar char="•"/>
            </a:pPr>
            <a:r>
              <a:rPr lang="en-US" sz="238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Constituer un portfolio final inspirant.</a:t>
            </a:r>
          </a:p>
          <a:p>
            <a:pPr algn="l">
              <a:lnSpc>
                <a:spcPts val="3332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188852" y="6830552"/>
            <a:ext cx="5089546" cy="2383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5"/>
              </a:lnSpc>
            </a:pPr>
            <a:r>
              <a:rPr lang="en-US" sz="198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Pendant les a</a:t>
            </a:r>
            <a:r>
              <a:rPr lang="en-US" sz="198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teliers</a:t>
            </a:r>
          </a:p>
          <a:p>
            <a:pPr algn="l" marL="427963" indent="-213981" lvl="1">
              <a:lnSpc>
                <a:spcPts val="2775"/>
              </a:lnSpc>
              <a:buFont typeface="Arial"/>
              <a:buChar char="•"/>
            </a:pPr>
            <a:r>
              <a:rPr lang="en-US" sz="198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Captation photo &amp; vidéo</a:t>
            </a:r>
          </a:p>
          <a:p>
            <a:pPr algn="l" marL="427963" indent="-213981" lvl="1">
              <a:lnSpc>
                <a:spcPts val="2775"/>
              </a:lnSpc>
              <a:buFont typeface="Arial"/>
              <a:buChar char="•"/>
            </a:pPr>
            <a:r>
              <a:rPr lang="en-US" sz="198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Interviews rapides des participants</a:t>
            </a:r>
          </a:p>
          <a:p>
            <a:pPr algn="l" marL="427963" indent="-213981" lvl="1">
              <a:lnSpc>
                <a:spcPts val="2775"/>
              </a:lnSpc>
              <a:buFont typeface="Arial"/>
              <a:buChar char="•"/>
            </a:pPr>
            <a:r>
              <a:rPr lang="en-US" sz="198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Contenus “behind the scenes”</a:t>
            </a:r>
          </a:p>
          <a:p>
            <a:pPr algn="l" marL="427963" indent="-213981" lvl="1">
              <a:lnSpc>
                <a:spcPts val="2775"/>
              </a:lnSpc>
              <a:buFont typeface="Arial"/>
              <a:buChar char="•"/>
            </a:pPr>
            <a:r>
              <a:rPr lang="en-US" sz="198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Mise en avant des looks générés par l’IA</a:t>
            </a:r>
          </a:p>
          <a:p>
            <a:pPr algn="l" marL="427963" indent="-213981" lvl="1">
              <a:lnSpc>
                <a:spcPts val="2775"/>
              </a:lnSpc>
              <a:buFont typeface="Arial"/>
              <a:buChar char="•"/>
            </a:pPr>
            <a:r>
              <a:rPr lang="en-US" sz="1982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Publications live ou stories</a:t>
            </a:r>
          </a:p>
          <a:p>
            <a:pPr algn="l">
              <a:lnSpc>
                <a:spcPts val="2775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6399" y="3738265"/>
            <a:ext cx="5026555" cy="5026555"/>
            <a:chOff x="0" y="0"/>
            <a:chExt cx="4489857" cy="4489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6630723" y="3738265"/>
            <a:ext cx="5026555" cy="5026555"/>
            <a:chOff x="0" y="0"/>
            <a:chExt cx="4489857" cy="44898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095047" y="3738265"/>
            <a:ext cx="5026555" cy="5026555"/>
            <a:chOff x="0" y="0"/>
            <a:chExt cx="4489857" cy="44898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89857" cy="4489857"/>
            </a:xfrm>
            <a:custGeom>
              <a:avLst/>
              <a:gdLst/>
              <a:ahLst/>
              <a:cxnLst/>
              <a:rect r="r" b="b" t="t" l="l"/>
              <a:pathLst>
                <a:path h="4489857" w="4489857">
                  <a:moveTo>
                    <a:pt x="22991" y="0"/>
                  </a:moveTo>
                  <a:lnTo>
                    <a:pt x="4466866" y="0"/>
                  </a:lnTo>
                  <a:cubicBezTo>
                    <a:pt x="4479564" y="0"/>
                    <a:pt x="4489857" y="10293"/>
                    <a:pt x="4489857" y="22991"/>
                  </a:cubicBezTo>
                  <a:lnTo>
                    <a:pt x="4489857" y="4466866"/>
                  </a:lnTo>
                  <a:cubicBezTo>
                    <a:pt x="4489857" y="4479564"/>
                    <a:pt x="4479564" y="4489857"/>
                    <a:pt x="4466866" y="4489857"/>
                  </a:cubicBezTo>
                  <a:lnTo>
                    <a:pt x="22991" y="4489857"/>
                  </a:lnTo>
                  <a:cubicBezTo>
                    <a:pt x="10293" y="4489857"/>
                    <a:pt x="0" y="4479564"/>
                    <a:pt x="0" y="4466866"/>
                  </a:cubicBezTo>
                  <a:lnTo>
                    <a:pt x="0" y="22991"/>
                  </a:lnTo>
                  <a:cubicBezTo>
                    <a:pt x="0" y="10293"/>
                    <a:pt x="10293" y="0"/>
                    <a:pt x="2299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sq">
              <a:solidFill>
                <a:srgbClr val="000000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489857" cy="4537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166399" y="1081425"/>
            <a:ext cx="15955203" cy="2070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1. Identifier et délimiter les données à recueillir</a:t>
            </a:r>
          </a:p>
          <a:p>
            <a:pPr algn="l">
              <a:lnSpc>
                <a:spcPts val="7700"/>
              </a:lnSpc>
            </a:pPr>
            <a:r>
              <a:rPr lang="en-US" sz="5500" b="true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2. </a:t>
            </a:r>
            <a:r>
              <a:rPr lang="en-US" sz="5500" b="true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Collecter &amp; stocker les données brutes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1259" y="5092666"/>
            <a:ext cx="4276833" cy="1804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9"/>
              </a:lnSpc>
            </a:pPr>
            <a:r>
              <a:rPr lang="en-US" b="true" sz="45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</a:t>
            </a:r>
            <a:r>
              <a:rPr lang="en-US" b="true" sz="4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4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4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données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49333" y="5102194"/>
            <a:ext cx="4276833" cy="1804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9"/>
              </a:lnSpc>
            </a:pPr>
            <a:r>
              <a:rPr lang="en-US" b="true" sz="45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Type</a:t>
            </a:r>
            <a:r>
              <a:rPr lang="en-US" b="true" sz="4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4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de </a:t>
            </a:r>
            <a:r>
              <a:rPr lang="en-US" b="true" sz="4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</a:t>
            </a:r>
            <a:r>
              <a:rPr lang="en-US" b="true" sz="4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nnées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66902" y="5092666"/>
            <a:ext cx="4276833" cy="1804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359"/>
              </a:lnSpc>
            </a:pPr>
            <a:r>
              <a:rPr lang="en-US" b="true" sz="45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4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4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té</a:t>
            </a:r>
            <a:r>
              <a:rPr lang="en-US" b="true" sz="4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</a:t>
            </a:r>
            <a:r>
              <a:rPr lang="en-US" b="true" sz="4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</a:t>
            </a:r>
            <a:r>
              <a:rPr lang="en-US" b="true" sz="4599" strike="noStrike" u="non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ries de données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88599" y="9707389"/>
            <a:ext cx="607801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-6-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2039980">
            <a:off x="16783182" y="-452990"/>
            <a:ext cx="4090920" cy="3019843"/>
          </a:xfrm>
          <a:custGeom>
            <a:avLst/>
            <a:gdLst/>
            <a:ahLst/>
            <a:cxnLst/>
            <a:rect r="r" b="b" t="t" l="l"/>
            <a:pathLst>
              <a:path h="3019843" w="4090920">
                <a:moveTo>
                  <a:pt x="0" y="0"/>
                </a:moveTo>
                <a:lnTo>
                  <a:pt x="4090920" y="0"/>
                </a:lnTo>
                <a:lnTo>
                  <a:pt x="4090920" y="3019843"/>
                </a:lnTo>
                <a:lnTo>
                  <a:pt x="0" y="30198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998541" y="-2467700"/>
            <a:ext cx="3496400" cy="3496400"/>
          </a:xfrm>
          <a:custGeom>
            <a:avLst/>
            <a:gdLst/>
            <a:ahLst/>
            <a:cxnLst/>
            <a:rect r="r" b="b" t="t" l="l"/>
            <a:pathLst>
              <a:path h="3496400" w="3496400">
                <a:moveTo>
                  <a:pt x="0" y="0"/>
                </a:moveTo>
                <a:lnTo>
                  <a:pt x="3496400" y="0"/>
                </a:lnTo>
                <a:lnTo>
                  <a:pt x="3496400" y="3496400"/>
                </a:lnTo>
                <a:lnTo>
                  <a:pt x="0" y="3496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2089099" y="8016339"/>
            <a:ext cx="3496400" cy="3496400"/>
          </a:xfrm>
          <a:custGeom>
            <a:avLst/>
            <a:gdLst/>
            <a:ahLst/>
            <a:cxnLst/>
            <a:rect r="r" b="b" t="t" l="l"/>
            <a:pathLst>
              <a:path h="3496400" w="3496400">
                <a:moveTo>
                  <a:pt x="0" y="0"/>
                </a:moveTo>
                <a:lnTo>
                  <a:pt x="3496400" y="0"/>
                </a:lnTo>
                <a:lnTo>
                  <a:pt x="3496400" y="3496400"/>
                </a:lnTo>
                <a:lnTo>
                  <a:pt x="0" y="3496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421869" y="8454942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89151" y="1621541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88186" y="394653"/>
            <a:ext cx="8732814" cy="102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5200" b="true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Types de données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01121" y="2202183"/>
            <a:ext cx="2711448" cy="2156092"/>
            <a:chOff x="0" y="0"/>
            <a:chExt cx="658660" cy="5237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660" cy="523754"/>
            </a:xfrm>
            <a:custGeom>
              <a:avLst/>
              <a:gdLst/>
              <a:ahLst/>
              <a:cxnLst/>
              <a:rect r="r" b="b" t="t" l="l"/>
              <a:pathLst>
                <a:path h="523754" w="658660">
                  <a:moveTo>
                    <a:pt x="156721" y="0"/>
                  </a:moveTo>
                  <a:lnTo>
                    <a:pt x="501940" y="0"/>
                  </a:lnTo>
                  <a:cubicBezTo>
                    <a:pt x="588494" y="0"/>
                    <a:pt x="658660" y="70166"/>
                    <a:pt x="658660" y="156721"/>
                  </a:cubicBezTo>
                  <a:lnTo>
                    <a:pt x="658660" y="367034"/>
                  </a:lnTo>
                  <a:cubicBezTo>
                    <a:pt x="658660" y="408599"/>
                    <a:pt x="642149" y="448461"/>
                    <a:pt x="612758" y="477852"/>
                  </a:cubicBezTo>
                  <a:cubicBezTo>
                    <a:pt x="583367" y="507243"/>
                    <a:pt x="543505" y="523754"/>
                    <a:pt x="501940" y="523754"/>
                  </a:cubicBezTo>
                  <a:lnTo>
                    <a:pt x="156721" y="523754"/>
                  </a:lnTo>
                  <a:cubicBezTo>
                    <a:pt x="115156" y="523754"/>
                    <a:pt x="75293" y="507243"/>
                    <a:pt x="45902" y="477852"/>
                  </a:cubicBezTo>
                  <a:cubicBezTo>
                    <a:pt x="16512" y="448461"/>
                    <a:pt x="0" y="408599"/>
                    <a:pt x="0" y="367034"/>
                  </a:cubicBezTo>
                  <a:lnTo>
                    <a:pt x="0" y="156721"/>
                  </a:lnTo>
                  <a:cubicBezTo>
                    <a:pt x="0" y="115156"/>
                    <a:pt x="16512" y="75293"/>
                    <a:pt x="45902" y="45902"/>
                  </a:cubicBezTo>
                  <a:cubicBezTo>
                    <a:pt x="75293" y="16512"/>
                    <a:pt x="115156" y="0"/>
                    <a:pt x="15672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58660" cy="561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99037" y="2651276"/>
            <a:ext cx="2813532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2799" spc="-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Images </a:t>
            </a:r>
          </a:p>
          <a:p>
            <a:pPr algn="ctr">
              <a:lnSpc>
                <a:spcPts val="4479"/>
              </a:lnSpc>
            </a:pPr>
            <a:r>
              <a:rPr lang="en-US" sz="2799" spc="-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(jpg, png, ...)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465734" y="2168860"/>
            <a:ext cx="2813532" cy="2156092"/>
            <a:chOff x="0" y="0"/>
            <a:chExt cx="683458" cy="5237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3458" cy="523754"/>
            </a:xfrm>
            <a:custGeom>
              <a:avLst/>
              <a:gdLst/>
              <a:ahLst/>
              <a:cxnLst/>
              <a:rect r="r" b="b" t="t" l="l"/>
              <a:pathLst>
                <a:path h="523754" w="683458">
                  <a:moveTo>
                    <a:pt x="151034" y="0"/>
                  </a:moveTo>
                  <a:lnTo>
                    <a:pt x="532424" y="0"/>
                  </a:lnTo>
                  <a:cubicBezTo>
                    <a:pt x="615838" y="0"/>
                    <a:pt x="683458" y="67620"/>
                    <a:pt x="683458" y="151034"/>
                  </a:cubicBezTo>
                  <a:lnTo>
                    <a:pt x="683458" y="372720"/>
                  </a:lnTo>
                  <a:cubicBezTo>
                    <a:pt x="683458" y="412777"/>
                    <a:pt x="667546" y="451193"/>
                    <a:pt x="639221" y="479517"/>
                  </a:cubicBezTo>
                  <a:cubicBezTo>
                    <a:pt x="610897" y="507842"/>
                    <a:pt x="572481" y="523754"/>
                    <a:pt x="532424" y="523754"/>
                  </a:cubicBezTo>
                  <a:lnTo>
                    <a:pt x="151034" y="523754"/>
                  </a:lnTo>
                  <a:cubicBezTo>
                    <a:pt x="67620" y="523754"/>
                    <a:pt x="0" y="456134"/>
                    <a:pt x="0" y="372720"/>
                  </a:cubicBezTo>
                  <a:lnTo>
                    <a:pt x="0" y="151034"/>
                  </a:lnTo>
                  <a:cubicBezTo>
                    <a:pt x="0" y="67620"/>
                    <a:pt x="67620" y="0"/>
                    <a:pt x="151034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83458" cy="561854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280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668225" y="2932264"/>
            <a:ext cx="2387379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JSON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082732" y="2202183"/>
            <a:ext cx="2813532" cy="2156092"/>
            <a:chOff x="0" y="0"/>
            <a:chExt cx="683458" cy="5237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3458" cy="523754"/>
            </a:xfrm>
            <a:custGeom>
              <a:avLst/>
              <a:gdLst/>
              <a:ahLst/>
              <a:cxnLst/>
              <a:rect r="r" b="b" t="t" l="l"/>
              <a:pathLst>
                <a:path h="523754" w="683458">
                  <a:moveTo>
                    <a:pt x="151034" y="0"/>
                  </a:moveTo>
                  <a:lnTo>
                    <a:pt x="532424" y="0"/>
                  </a:lnTo>
                  <a:cubicBezTo>
                    <a:pt x="615838" y="0"/>
                    <a:pt x="683458" y="67620"/>
                    <a:pt x="683458" y="151034"/>
                  </a:cubicBezTo>
                  <a:lnTo>
                    <a:pt x="683458" y="372720"/>
                  </a:lnTo>
                  <a:cubicBezTo>
                    <a:pt x="683458" y="412777"/>
                    <a:pt x="667546" y="451193"/>
                    <a:pt x="639221" y="479517"/>
                  </a:cubicBezTo>
                  <a:cubicBezTo>
                    <a:pt x="610897" y="507842"/>
                    <a:pt x="572481" y="523754"/>
                    <a:pt x="532424" y="523754"/>
                  </a:cubicBezTo>
                  <a:lnTo>
                    <a:pt x="151034" y="523754"/>
                  </a:lnTo>
                  <a:cubicBezTo>
                    <a:pt x="67620" y="523754"/>
                    <a:pt x="0" y="456134"/>
                    <a:pt x="0" y="372720"/>
                  </a:cubicBezTo>
                  <a:lnTo>
                    <a:pt x="0" y="151034"/>
                  </a:lnTo>
                  <a:cubicBezTo>
                    <a:pt x="0" y="67620"/>
                    <a:pt x="67620" y="0"/>
                    <a:pt x="151034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683458" cy="561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8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037823" y="2975112"/>
            <a:ext cx="2813532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CSV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31849" y="9676840"/>
            <a:ext cx="607801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-8-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348875" y="-1662818"/>
            <a:ext cx="3496400" cy="3496400"/>
          </a:xfrm>
          <a:custGeom>
            <a:avLst/>
            <a:gdLst/>
            <a:ahLst/>
            <a:cxnLst/>
            <a:rect r="r" b="b" t="t" l="l"/>
            <a:pathLst>
              <a:path h="3496400" w="3496400">
                <a:moveTo>
                  <a:pt x="0" y="0"/>
                </a:moveTo>
                <a:lnTo>
                  <a:pt x="3496400" y="0"/>
                </a:lnTo>
                <a:lnTo>
                  <a:pt x="3496400" y="3496401"/>
                </a:lnTo>
                <a:lnTo>
                  <a:pt x="0" y="34964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-1903836" y="6649378"/>
            <a:ext cx="3304957" cy="3304957"/>
          </a:xfrm>
          <a:custGeom>
            <a:avLst/>
            <a:gdLst/>
            <a:ahLst/>
            <a:cxnLst/>
            <a:rect r="r" b="b" t="t" l="l"/>
            <a:pathLst>
              <a:path h="3304957" w="3304957">
                <a:moveTo>
                  <a:pt x="0" y="0"/>
                </a:moveTo>
                <a:lnTo>
                  <a:pt x="3304957" y="0"/>
                </a:lnTo>
                <a:lnTo>
                  <a:pt x="3304957" y="3304957"/>
                </a:lnTo>
                <a:lnTo>
                  <a:pt x="0" y="33049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7259300" y="5539750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5"/>
                </a:lnTo>
                <a:lnTo>
                  <a:pt x="0" y="7746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803730" y="8453708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5616930" y="3237381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6"/>
                </a:lnTo>
                <a:lnTo>
                  <a:pt x="0" y="71995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28700" y="5034197"/>
            <a:ext cx="9243622" cy="1049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Catégories de données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28700" y="6224187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299037" y="7043337"/>
            <a:ext cx="2698757" cy="2214963"/>
            <a:chOff x="0" y="0"/>
            <a:chExt cx="655577" cy="53805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5577" cy="538055"/>
            </a:xfrm>
            <a:custGeom>
              <a:avLst/>
              <a:gdLst/>
              <a:ahLst/>
              <a:cxnLst/>
              <a:rect r="r" b="b" t="t" l="l"/>
              <a:pathLst>
                <a:path h="538055" w="655577">
                  <a:moveTo>
                    <a:pt x="157458" y="0"/>
                  </a:moveTo>
                  <a:lnTo>
                    <a:pt x="498120" y="0"/>
                  </a:lnTo>
                  <a:cubicBezTo>
                    <a:pt x="539880" y="0"/>
                    <a:pt x="579930" y="16589"/>
                    <a:pt x="609459" y="46118"/>
                  </a:cubicBezTo>
                  <a:cubicBezTo>
                    <a:pt x="638988" y="75647"/>
                    <a:pt x="655577" y="115697"/>
                    <a:pt x="655577" y="157458"/>
                  </a:cubicBezTo>
                  <a:lnTo>
                    <a:pt x="655577" y="380597"/>
                  </a:lnTo>
                  <a:cubicBezTo>
                    <a:pt x="655577" y="467559"/>
                    <a:pt x="585081" y="538055"/>
                    <a:pt x="498120" y="538055"/>
                  </a:cubicBezTo>
                  <a:lnTo>
                    <a:pt x="157458" y="538055"/>
                  </a:lnTo>
                  <a:cubicBezTo>
                    <a:pt x="70496" y="538055"/>
                    <a:pt x="0" y="467559"/>
                    <a:pt x="0" y="380597"/>
                  </a:cubicBezTo>
                  <a:lnTo>
                    <a:pt x="0" y="157458"/>
                  </a:lnTo>
                  <a:cubicBezTo>
                    <a:pt x="0" y="70496"/>
                    <a:pt x="70496" y="0"/>
                    <a:pt x="157458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655577" cy="576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70462" y="7881573"/>
            <a:ext cx="2813532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2799" spc="-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Silhouettes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5054593" y="7054767"/>
            <a:ext cx="2462906" cy="2203533"/>
            <a:chOff x="0" y="0"/>
            <a:chExt cx="598285" cy="53527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98285" cy="535278"/>
            </a:xfrm>
            <a:custGeom>
              <a:avLst/>
              <a:gdLst/>
              <a:ahLst/>
              <a:cxnLst/>
              <a:rect r="r" b="b" t="t" l="l"/>
              <a:pathLst>
                <a:path h="535278" w="598285">
                  <a:moveTo>
                    <a:pt x="172536" y="0"/>
                  </a:moveTo>
                  <a:lnTo>
                    <a:pt x="425749" y="0"/>
                  </a:lnTo>
                  <a:cubicBezTo>
                    <a:pt x="471508" y="0"/>
                    <a:pt x="515394" y="18178"/>
                    <a:pt x="547750" y="50535"/>
                  </a:cubicBezTo>
                  <a:cubicBezTo>
                    <a:pt x="580107" y="82891"/>
                    <a:pt x="598285" y="126777"/>
                    <a:pt x="598285" y="172536"/>
                  </a:cubicBezTo>
                  <a:lnTo>
                    <a:pt x="598285" y="362743"/>
                  </a:lnTo>
                  <a:cubicBezTo>
                    <a:pt x="598285" y="458031"/>
                    <a:pt x="521038" y="535278"/>
                    <a:pt x="425749" y="535278"/>
                  </a:cubicBezTo>
                  <a:lnTo>
                    <a:pt x="172536" y="535278"/>
                  </a:lnTo>
                  <a:cubicBezTo>
                    <a:pt x="77247" y="535278"/>
                    <a:pt x="0" y="458031"/>
                    <a:pt x="0" y="362743"/>
                  </a:cubicBezTo>
                  <a:lnTo>
                    <a:pt x="0" y="172536"/>
                  </a:lnTo>
                  <a:cubicBezTo>
                    <a:pt x="0" y="77247"/>
                    <a:pt x="77247" y="0"/>
                    <a:pt x="172536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98285" cy="573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512602" y="7054767"/>
            <a:ext cx="2986357" cy="2203533"/>
            <a:chOff x="0" y="0"/>
            <a:chExt cx="725441" cy="53527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5441" cy="535278"/>
            </a:xfrm>
            <a:custGeom>
              <a:avLst/>
              <a:gdLst/>
              <a:ahLst/>
              <a:cxnLst/>
              <a:rect r="r" b="b" t="t" l="l"/>
              <a:pathLst>
                <a:path h="535278" w="725441">
                  <a:moveTo>
                    <a:pt x="142294" y="0"/>
                  </a:moveTo>
                  <a:lnTo>
                    <a:pt x="583147" y="0"/>
                  </a:lnTo>
                  <a:cubicBezTo>
                    <a:pt x="661734" y="0"/>
                    <a:pt x="725441" y="63707"/>
                    <a:pt x="725441" y="142294"/>
                  </a:cubicBezTo>
                  <a:lnTo>
                    <a:pt x="725441" y="392985"/>
                  </a:lnTo>
                  <a:cubicBezTo>
                    <a:pt x="725441" y="430723"/>
                    <a:pt x="710449" y="466916"/>
                    <a:pt x="683764" y="493602"/>
                  </a:cubicBezTo>
                  <a:cubicBezTo>
                    <a:pt x="657079" y="520287"/>
                    <a:pt x="620886" y="535278"/>
                    <a:pt x="583147" y="535278"/>
                  </a:cubicBezTo>
                  <a:lnTo>
                    <a:pt x="142294" y="535278"/>
                  </a:lnTo>
                  <a:cubicBezTo>
                    <a:pt x="63707" y="535278"/>
                    <a:pt x="0" y="471571"/>
                    <a:pt x="0" y="392985"/>
                  </a:cubicBezTo>
                  <a:lnTo>
                    <a:pt x="0" y="142294"/>
                  </a:lnTo>
                  <a:cubicBezTo>
                    <a:pt x="0" y="104555"/>
                    <a:pt x="14992" y="68362"/>
                    <a:pt x="41677" y="41677"/>
                  </a:cubicBezTo>
                  <a:cubicBezTo>
                    <a:pt x="68362" y="14992"/>
                    <a:pt x="104555" y="0"/>
                    <a:pt x="142294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725441" cy="573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632434" y="7054767"/>
            <a:ext cx="2846683" cy="2203533"/>
            <a:chOff x="0" y="0"/>
            <a:chExt cx="691511" cy="5352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1511" cy="535278"/>
            </a:xfrm>
            <a:custGeom>
              <a:avLst/>
              <a:gdLst/>
              <a:ahLst/>
              <a:cxnLst/>
              <a:rect r="r" b="b" t="t" l="l"/>
              <a:pathLst>
                <a:path h="535278" w="691511">
                  <a:moveTo>
                    <a:pt x="149275" y="0"/>
                  </a:moveTo>
                  <a:lnTo>
                    <a:pt x="542236" y="0"/>
                  </a:lnTo>
                  <a:cubicBezTo>
                    <a:pt x="581826" y="0"/>
                    <a:pt x="619795" y="15727"/>
                    <a:pt x="647790" y="43722"/>
                  </a:cubicBezTo>
                  <a:cubicBezTo>
                    <a:pt x="675784" y="71716"/>
                    <a:pt x="691511" y="109685"/>
                    <a:pt x="691511" y="149275"/>
                  </a:cubicBezTo>
                  <a:lnTo>
                    <a:pt x="691511" y="386003"/>
                  </a:lnTo>
                  <a:cubicBezTo>
                    <a:pt x="691511" y="425593"/>
                    <a:pt x="675784" y="463562"/>
                    <a:pt x="647790" y="491557"/>
                  </a:cubicBezTo>
                  <a:cubicBezTo>
                    <a:pt x="619795" y="519551"/>
                    <a:pt x="581826" y="535278"/>
                    <a:pt x="542236" y="535278"/>
                  </a:cubicBezTo>
                  <a:lnTo>
                    <a:pt x="149275" y="535278"/>
                  </a:lnTo>
                  <a:cubicBezTo>
                    <a:pt x="66833" y="535278"/>
                    <a:pt x="0" y="468446"/>
                    <a:pt x="0" y="386003"/>
                  </a:cubicBezTo>
                  <a:lnTo>
                    <a:pt x="0" y="149275"/>
                  </a:lnTo>
                  <a:cubicBezTo>
                    <a:pt x="0" y="109685"/>
                    <a:pt x="15727" y="71716"/>
                    <a:pt x="43722" y="43722"/>
                  </a:cubicBezTo>
                  <a:cubicBezTo>
                    <a:pt x="71716" y="15727"/>
                    <a:pt x="109685" y="0"/>
                    <a:pt x="149275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91511" cy="5733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4893619" y="7900623"/>
            <a:ext cx="2813532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 spc="-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Tenues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649175" y="7881573"/>
            <a:ext cx="2813532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Maquillges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88485" y="7938723"/>
            <a:ext cx="2387379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Coiffures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4930322" y="2159335"/>
            <a:ext cx="2711448" cy="2156092"/>
            <a:chOff x="0" y="0"/>
            <a:chExt cx="658660" cy="52375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660" cy="523754"/>
            </a:xfrm>
            <a:custGeom>
              <a:avLst/>
              <a:gdLst/>
              <a:ahLst/>
              <a:cxnLst/>
              <a:rect r="r" b="b" t="t" l="l"/>
              <a:pathLst>
                <a:path h="523754" w="658660">
                  <a:moveTo>
                    <a:pt x="156721" y="0"/>
                  </a:moveTo>
                  <a:lnTo>
                    <a:pt x="501940" y="0"/>
                  </a:lnTo>
                  <a:cubicBezTo>
                    <a:pt x="588494" y="0"/>
                    <a:pt x="658660" y="70166"/>
                    <a:pt x="658660" y="156721"/>
                  </a:cubicBezTo>
                  <a:lnTo>
                    <a:pt x="658660" y="367034"/>
                  </a:lnTo>
                  <a:cubicBezTo>
                    <a:pt x="658660" y="408599"/>
                    <a:pt x="642149" y="448461"/>
                    <a:pt x="612758" y="477852"/>
                  </a:cubicBezTo>
                  <a:cubicBezTo>
                    <a:pt x="583367" y="507243"/>
                    <a:pt x="543505" y="523754"/>
                    <a:pt x="501940" y="523754"/>
                  </a:cubicBezTo>
                  <a:lnTo>
                    <a:pt x="156721" y="523754"/>
                  </a:lnTo>
                  <a:cubicBezTo>
                    <a:pt x="115156" y="523754"/>
                    <a:pt x="75293" y="507243"/>
                    <a:pt x="45902" y="477852"/>
                  </a:cubicBezTo>
                  <a:cubicBezTo>
                    <a:pt x="16512" y="448461"/>
                    <a:pt x="0" y="408599"/>
                    <a:pt x="0" y="367034"/>
                  </a:cubicBezTo>
                  <a:lnTo>
                    <a:pt x="0" y="156721"/>
                  </a:lnTo>
                  <a:cubicBezTo>
                    <a:pt x="0" y="115156"/>
                    <a:pt x="16512" y="75293"/>
                    <a:pt x="45902" y="45902"/>
                  </a:cubicBezTo>
                  <a:cubicBezTo>
                    <a:pt x="75293" y="16512"/>
                    <a:pt x="115156" y="0"/>
                    <a:pt x="156721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58660" cy="5618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80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4939847" y="2951314"/>
            <a:ext cx="2813532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 spc="-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Textes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1090950"/>
            <a:ext cx="4952833" cy="206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Sources de données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19231" y="1477572"/>
            <a:ext cx="3345981" cy="334598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385456" y="2283470"/>
            <a:ext cx="2813532" cy="1638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2799" spc="-6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Unspl</a:t>
            </a: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sh,</a:t>
            </a:r>
          </a:p>
          <a:p>
            <a:pPr algn="ctr">
              <a:lnSpc>
                <a:spcPts val="4479"/>
              </a:lnSpc>
            </a:pP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</a:t>
            </a: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ikimedia,</a:t>
            </a:r>
          </a:p>
          <a:p>
            <a:pPr algn="ctr">
              <a:lnSpc>
                <a:spcPts val="4479"/>
              </a:lnSpc>
            </a:pP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Google Image,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119231" y="5463447"/>
            <a:ext cx="3345981" cy="334598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598533" y="6909453"/>
            <a:ext cx="2387379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Open Data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41463" y="1477572"/>
            <a:ext cx="3345981" cy="3345981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07687" y="2283470"/>
            <a:ext cx="2813532" cy="1638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</a:t>
            </a: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</a:t>
            </a: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mo</a:t>
            </a: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/ d’e-commerce, </a:t>
            </a:r>
            <a:r>
              <a:rPr lang="en-US" sz="2799" spc="-61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etc.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41463" y="5463447"/>
            <a:ext cx="3345981" cy="334598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420764" y="6909453"/>
            <a:ext cx="2387379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7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ata </a:t>
            </a:r>
            <a:r>
              <a:rPr lang="en-US" sz="27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</a:t>
            </a:r>
            <a:r>
              <a:rPr lang="en-US" sz="27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2799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uv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763694" y="1477572"/>
            <a:ext cx="3345981" cy="3345981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029918" y="2845445"/>
            <a:ext cx="2813532" cy="51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Site de beauté, 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763694" y="5463447"/>
            <a:ext cx="3345981" cy="3345981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000" y="0"/>
                  </a:moveTo>
                  <a:lnTo>
                    <a:pt x="685800" y="0"/>
                  </a:lnTo>
                  <a:cubicBezTo>
                    <a:pt x="755940" y="0"/>
                    <a:pt x="812800" y="56860"/>
                    <a:pt x="812800" y="127000"/>
                  </a:cubicBezTo>
                  <a:lnTo>
                    <a:pt x="812800" y="685800"/>
                  </a:lnTo>
                  <a:cubicBezTo>
                    <a:pt x="812800" y="755940"/>
                    <a:pt x="755940" y="812800"/>
                    <a:pt x="685800" y="812800"/>
                  </a:cubicBezTo>
                  <a:lnTo>
                    <a:pt x="127000" y="812800"/>
                  </a:lnTo>
                  <a:cubicBezTo>
                    <a:pt x="56860" y="812800"/>
                    <a:pt x="0" y="755940"/>
                    <a:pt x="0" y="685800"/>
                  </a:cubicBezTo>
                  <a:lnTo>
                    <a:pt x="0" y="127000"/>
                  </a:lnTo>
                  <a:cubicBezTo>
                    <a:pt x="0" y="56860"/>
                    <a:pt x="56860" y="0"/>
                    <a:pt x="127000" y="0"/>
                  </a:cubicBezTo>
                  <a:close/>
                </a:path>
              </a:pathLst>
            </a:custGeom>
            <a:solidFill>
              <a:srgbClr val="FFFFFF">
                <a:alpha val="49804"/>
              </a:srgbClr>
            </a:solidFill>
            <a:ln w="28575" cap="rnd">
              <a:solidFill>
                <a:srgbClr val="000000">
                  <a:alpha val="49804"/>
                </a:srgbClr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43106" lIns="43106" bIns="43106" rIns="43106"/>
            <a:lstStyle/>
            <a:p>
              <a:pPr algn="r">
                <a:lnSpc>
                  <a:spcPts val="33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4242995" y="6628465"/>
            <a:ext cx="2387379" cy="1076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Kaggle,</a:t>
            </a:r>
          </a:p>
          <a:p>
            <a:pPr algn="ctr" marL="0" indent="0" lvl="0">
              <a:lnSpc>
                <a:spcPts val="447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CelebAI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840100" y="9638740"/>
            <a:ext cx="607801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-7-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-4796020" y="7424438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-5069649" y="8293220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5"/>
                </a:lnTo>
                <a:lnTo>
                  <a:pt x="0" y="7746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843450" y="-670389"/>
            <a:ext cx="2432568" cy="2432568"/>
          </a:xfrm>
          <a:custGeom>
            <a:avLst/>
            <a:gdLst/>
            <a:ahLst/>
            <a:cxnLst/>
            <a:rect r="r" b="b" t="t" l="l"/>
            <a:pathLst>
              <a:path h="2432568" w="2432568">
                <a:moveTo>
                  <a:pt x="0" y="0"/>
                </a:moveTo>
                <a:lnTo>
                  <a:pt x="2432569" y="0"/>
                </a:lnTo>
                <a:lnTo>
                  <a:pt x="2432569" y="2432568"/>
                </a:lnTo>
                <a:lnTo>
                  <a:pt x="0" y="24325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85814" y="2243499"/>
            <a:ext cx="9316373" cy="227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3. Nettoyer, normal</a:t>
            </a:r>
            <a:r>
              <a:rPr lang="en-US" sz="6000" b="true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iser &amp; structurer les données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80543" y="5492125"/>
            <a:ext cx="9926914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Traitement et nettoyage basique via python (pandas, matplotlib, etc.)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840100" y="9625247"/>
            <a:ext cx="607801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-9-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5279290" y="3598530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54418" y="7033554"/>
            <a:ext cx="3496400" cy="3496400"/>
          </a:xfrm>
          <a:custGeom>
            <a:avLst/>
            <a:gdLst/>
            <a:ahLst/>
            <a:cxnLst/>
            <a:rect r="r" b="b" t="t" l="l"/>
            <a:pathLst>
              <a:path h="3496400" w="3496400">
                <a:moveTo>
                  <a:pt x="0" y="0"/>
                </a:moveTo>
                <a:lnTo>
                  <a:pt x="3496400" y="0"/>
                </a:lnTo>
                <a:lnTo>
                  <a:pt x="3496400" y="3496400"/>
                </a:lnTo>
                <a:lnTo>
                  <a:pt x="0" y="3496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59300" y="5539750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5"/>
                </a:lnTo>
                <a:lnTo>
                  <a:pt x="0" y="7746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692679">
            <a:off x="16567840" y="-1232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4" y="0"/>
                </a:lnTo>
                <a:lnTo>
                  <a:pt x="6649744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1090950"/>
            <a:ext cx="16437332" cy="206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000000"/>
                </a:solidFill>
                <a:latin typeface="Agrandir Tight Bold"/>
                <a:ea typeface="Agrandir Tight Bold"/>
                <a:cs typeface="Agrandir Tight Bold"/>
                <a:sym typeface="Agrandir Tight Bold"/>
              </a:rPr>
              <a:t>4. Concevoir, entraîner &amp; tester les modèles IA de relooking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75924" y="3651588"/>
            <a:ext cx="4833608" cy="128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ly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d’imag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Vision Tr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sform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er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(ViT) pré-entr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aîné Google ViT-B/16 ou ViT-L/14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6399" y="5752475"/>
            <a:ext cx="4843133" cy="178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Les ViT sont top pour classification visuelle fine ( intensité du maquillage, type d’ombre à paupière ....).Ils sont faciles à fine-tuner sur des datasets moyens (10k – 50k images).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31959" y="3651588"/>
            <a:ext cx="4833608" cy="1288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Compréhension du texte (évèneme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nt + des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crip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tion + préférences)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31959" y="5752475"/>
            <a:ext cx="4843133" cy="2508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LLaMA 3 8B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(fine-tuné) : Très léger,</a:t>
            </a:r>
          </a:p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open-source, parfait pour classer le type d’évènement et comprendre un prompt. C’est un modèle interne, reproductible, aligné avec notre dataset (évènements professionnels SXSW, styles, dress-codes…)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87994" y="3651588"/>
            <a:ext cx="4833608" cy="85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sion multi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dale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(I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mag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 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 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</a:t>
            </a:r>
            <a:r>
              <a:rPr lang="en-US" b="true" sz="2199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xte)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7994" y="5752475"/>
            <a:ext cx="4843133" cy="2146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CLIP + MLP de recommandation (architecture simple &amp; efficace). ·Il permet de rapprocher l’image du visage / tenue, la description textuelle, le type d’évènement et crée un embedding commun, parfait pour faire des recommandations.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297476" y="7911408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6"/>
                </a:lnTo>
                <a:lnTo>
                  <a:pt x="0" y="7746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953988" y="8761586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569710">
            <a:off x="-1886751" y="8634635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6"/>
                </a:lnTo>
                <a:lnTo>
                  <a:pt x="0" y="71995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840100" y="9625247"/>
            <a:ext cx="81417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-10-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2330002" y="4162128"/>
            <a:ext cx="3496400" cy="3496400"/>
          </a:xfrm>
          <a:custGeom>
            <a:avLst/>
            <a:gdLst/>
            <a:ahLst/>
            <a:cxnLst/>
            <a:rect r="r" b="b" t="t" l="l"/>
            <a:pathLst>
              <a:path h="3496400" w="3496400">
                <a:moveTo>
                  <a:pt x="0" y="0"/>
                </a:moveTo>
                <a:lnTo>
                  <a:pt x="3496401" y="0"/>
                </a:lnTo>
                <a:lnTo>
                  <a:pt x="3496401" y="3496400"/>
                </a:lnTo>
                <a:lnTo>
                  <a:pt x="0" y="349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539800" y="-2434025"/>
            <a:ext cx="3496400" cy="3496400"/>
          </a:xfrm>
          <a:custGeom>
            <a:avLst/>
            <a:gdLst/>
            <a:ahLst/>
            <a:cxnLst/>
            <a:rect r="r" b="b" t="t" l="l"/>
            <a:pathLst>
              <a:path h="3496400" w="3496400">
                <a:moveTo>
                  <a:pt x="0" y="0"/>
                </a:moveTo>
                <a:lnTo>
                  <a:pt x="3496400" y="0"/>
                </a:lnTo>
                <a:lnTo>
                  <a:pt x="3496400" y="3496400"/>
                </a:lnTo>
                <a:lnTo>
                  <a:pt x="0" y="349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78487" y="7505222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5"/>
                </a:lnTo>
                <a:lnTo>
                  <a:pt x="0" y="774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3988" y="8761586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69710">
            <a:off x="-2254483" y="9103290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65739" y="2464593"/>
            <a:ext cx="8088817" cy="5945281"/>
          </a:xfrm>
          <a:custGeom>
            <a:avLst/>
            <a:gdLst/>
            <a:ahLst/>
            <a:cxnLst/>
            <a:rect r="r" b="b" t="t" l="l"/>
            <a:pathLst>
              <a:path h="5945281" w="8088817">
                <a:moveTo>
                  <a:pt x="0" y="0"/>
                </a:moveTo>
                <a:lnTo>
                  <a:pt x="8088817" y="0"/>
                </a:lnTo>
                <a:lnTo>
                  <a:pt x="8088817" y="5945281"/>
                </a:lnTo>
                <a:lnTo>
                  <a:pt x="0" y="59452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39784" y="3451248"/>
            <a:ext cx="433100" cy="447753"/>
          </a:xfrm>
          <a:custGeom>
            <a:avLst/>
            <a:gdLst/>
            <a:ahLst/>
            <a:cxnLst/>
            <a:rect r="r" b="b" t="t" l="l"/>
            <a:pathLst>
              <a:path h="447753" w="433100">
                <a:moveTo>
                  <a:pt x="0" y="0"/>
                </a:moveTo>
                <a:lnTo>
                  <a:pt x="433100" y="0"/>
                </a:lnTo>
                <a:lnTo>
                  <a:pt x="433100" y="447753"/>
                </a:lnTo>
                <a:lnTo>
                  <a:pt x="0" y="4477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960573" y="3480636"/>
            <a:ext cx="5257361" cy="3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4335" indent="-252167" lvl="1">
              <a:lnSpc>
                <a:spcPts val="3270"/>
              </a:lnSpc>
              <a:buFont typeface="Arial"/>
              <a:buChar char="•"/>
            </a:pPr>
            <a:r>
              <a:rPr lang="en-US" sz="23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Un logo organique et fluide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53988" y="2666763"/>
            <a:ext cx="5257361" cy="341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0"/>
              </a:lnSpc>
            </a:pPr>
            <a:r>
              <a:rPr lang="en-US" sz="193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Pour l’identité visuel, on a choisi 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1339784" y="4775301"/>
            <a:ext cx="433100" cy="447753"/>
          </a:xfrm>
          <a:custGeom>
            <a:avLst/>
            <a:gdLst/>
            <a:ahLst/>
            <a:cxnLst/>
            <a:rect r="r" b="b" t="t" l="l"/>
            <a:pathLst>
              <a:path h="447753" w="433100">
                <a:moveTo>
                  <a:pt x="0" y="0"/>
                </a:moveTo>
                <a:lnTo>
                  <a:pt x="433100" y="0"/>
                </a:lnTo>
                <a:lnTo>
                  <a:pt x="433100" y="447753"/>
                </a:lnTo>
                <a:lnTo>
                  <a:pt x="0" y="4477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960573" y="4601311"/>
            <a:ext cx="5257361" cy="3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4335" indent="-252167" lvl="1">
              <a:lnSpc>
                <a:spcPts val="3270"/>
              </a:lnSpc>
              <a:buFont typeface="Arial"/>
              <a:buChar char="•"/>
            </a:pPr>
            <a:r>
              <a:rPr lang="en-US" sz="23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Créativité et mouvement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381150" y="6106417"/>
            <a:ext cx="433100" cy="447753"/>
          </a:xfrm>
          <a:custGeom>
            <a:avLst/>
            <a:gdLst/>
            <a:ahLst/>
            <a:cxnLst/>
            <a:rect r="r" b="b" t="t" l="l"/>
            <a:pathLst>
              <a:path h="447753" w="433100">
                <a:moveTo>
                  <a:pt x="0" y="0"/>
                </a:moveTo>
                <a:lnTo>
                  <a:pt x="433100" y="0"/>
                </a:lnTo>
                <a:lnTo>
                  <a:pt x="433100" y="447753"/>
                </a:lnTo>
                <a:lnTo>
                  <a:pt x="0" y="4477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042850" y="5770702"/>
            <a:ext cx="5257361" cy="397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4335" indent="-252167" lvl="1">
              <a:lnSpc>
                <a:spcPts val="3270"/>
              </a:lnSpc>
              <a:buFont typeface="Arial"/>
              <a:buChar char="•"/>
            </a:pPr>
            <a:r>
              <a:rPr lang="en-US" sz="23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Couleurs equilibrés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10320007">
            <a:off x="-7900389" y="-1811438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6" y="0"/>
                </a:lnTo>
                <a:lnTo>
                  <a:pt x="9142966" y="7746586"/>
                </a:lnTo>
                <a:lnTo>
                  <a:pt x="0" y="774658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3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579354" y="-372336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1889741" y="1312545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8840100" y="9625247"/>
            <a:ext cx="81417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-11-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7476" y="7911408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6"/>
                </a:lnTo>
                <a:lnTo>
                  <a:pt x="0" y="7746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3988" y="8761586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69710">
            <a:off x="-1502135" y="9031897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5247" y="3066681"/>
            <a:ext cx="11683547" cy="5694906"/>
          </a:xfrm>
          <a:custGeom>
            <a:avLst/>
            <a:gdLst/>
            <a:ahLst/>
            <a:cxnLst/>
            <a:rect r="r" b="b" t="t" l="l"/>
            <a:pathLst>
              <a:path h="5694906" w="11683547">
                <a:moveTo>
                  <a:pt x="0" y="0"/>
                </a:moveTo>
                <a:lnTo>
                  <a:pt x="11683547" y="0"/>
                </a:lnTo>
                <a:lnTo>
                  <a:pt x="11683547" y="5694905"/>
                </a:lnTo>
                <a:lnTo>
                  <a:pt x="0" y="56949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49" r="-2334" b="-64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01947" y="771525"/>
            <a:ext cx="9484107" cy="108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2F2F29"/>
                </a:solidFill>
                <a:latin typeface="Agrandir Tight Heavy"/>
                <a:ea typeface="Agrandir Tight Heavy"/>
                <a:cs typeface="Agrandir Tight Heavy"/>
                <a:sym typeface="Agrandir Tight Heavy"/>
              </a:rPr>
              <a:t>Pages MakeAIPrep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283965" y="6273996"/>
            <a:ext cx="433100" cy="447753"/>
          </a:xfrm>
          <a:custGeom>
            <a:avLst/>
            <a:gdLst/>
            <a:ahLst/>
            <a:cxnLst/>
            <a:rect r="r" b="b" t="t" l="l"/>
            <a:pathLst>
              <a:path h="447753" w="433100">
                <a:moveTo>
                  <a:pt x="0" y="0"/>
                </a:moveTo>
                <a:lnTo>
                  <a:pt x="433099" y="0"/>
                </a:lnTo>
                <a:lnTo>
                  <a:pt x="433099" y="447753"/>
                </a:lnTo>
                <a:lnTo>
                  <a:pt x="0" y="4477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904754" y="6226371"/>
            <a:ext cx="5257361" cy="137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0"/>
              </a:lnSpc>
            </a:pPr>
            <a:r>
              <a:rPr lang="en-US" sz="19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page d’upload utilise un composant centralisé, des conseils et un bouton bien contrasté pour sécuriser une action sensible : envoyer sa photo.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283965" y="3345150"/>
            <a:ext cx="433100" cy="447753"/>
          </a:xfrm>
          <a:custGeom>
            <a:avLst/>
            <a:gdLst/>
            <a:ahLst/>
            <a:cxnLst/>
            <a:rect r="r" b="b" t="t" l="l"/>
            <a:pathLst>
              <a:path h="447753" w="433100">
                <a:moveTo>
                  <a:pt x="0" y="0"/>
                </a:moveTo>
                <a:lnTo>
                  <a:pt x="433099" y="0"/>
                </a:lnTo>
                <a:lnTo>
                  <a:pt x="433099" y="447753"/>
                </a:lnTo>
                <a:lnTo>
                  <a:pt x="0" y="4477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904754" y="3206689"/>
            <a:ext cx="5257361" cy="102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0"/>
              </a:lnSpc>
            </a:pPr>
            <a:r>
              <a:rPr lang="en-US" sz="19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landing page présente immédiatement la proposition de valeur avec une hiérarchie visuelle forte.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283965" y="4778328"/>
            <a:ext cx="433100" cy="447753"/>
          </a:xfrm>
          <a:custGeom>
            <a:avLst/>
            <a:gdLst/>
            <a:ahLst/>
            <a:cxnLst/>
            <a:rect r="r" b="b" t="t" l="l"/>
            <a:pathLst>
              <a:path h="447753" w="433100">
                <a:moveTo>
                  <a:pt x="0" y="0"/>
                </a:moveTo>
                <a:lnTo>
                  <a:pt x="433099" y="0"/>
                </a:lnTo>
                <a:lnTo>
                  <a:pt x="433099" y="447753"/>
                </a:lnTo>
                <a:lnTo>
                  <a:pt x="0" y="4477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904754" y="4639867"/>
            <a:ext cx="5257361" cy="1027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0"/>
              </a:lnSpc>
            </a:pPr>
            <a:r>
              <a:rPr lang="en-US" sz="193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La page d’accueil adopte une structure en étapes pour guider l’utilisateur et réduire la charge cognitive.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40100" y="9625247"/>
            <a:ext cx="81417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-12-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-2467700" y="-719500"/>
            <a:ext cx="3496400" cy="3496400"/>
          </a:xfrm>
          <a:custGeom>
            <a:avLst/>
            <a:gdLst/>
            <a:ahLst/>
            <a:cxnLst/>
            <a:rect r="r" b="b" t="t" l="l"/>
            <a:pathLst>
              <a:path h="3496400" w="3496400">
                <a:moveTo>
                  <a:pt x="0" y="0"/>
                </a:moveTo>
                <a:lnTo>
                  <a:pt x="3496400" y="0"/>
                </a:lnTo>
                <a:lnTo>
                  <a:pt x="3496400" y="3496400"/>
                </a:lnTo>
                <a:lnTo>
                  <a:pt x="0" y="3496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>
            <a:off x="1889741" y="981075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320229" y="6649641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5"/>
                </a:lnTo>
                <a:lnTo>
                  <a:pt x="0" y="774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3988" y="8761586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69710">
            <a:off x="-6073546" y="5161824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65334" y="-5945845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6" y="0"/>
                </a:lnTo>
                <a:lnTo>
                  <a:pt x="9142966" y="7746586"/>
                </a:lnTo>
                <a:lnTo>
                  <a:pt x="0" y="77465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6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0140623" y="1169670"/>
            <a:ext cx="7296523" cy="7296494"/>
            <a:chOff x="0" y="0"/>
            <a:chExt cx="6350000" cy="63499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8"/>
              <a:stretch>
                <a:fillRect l="-1266" t="-13" r="-1266" b="-1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68583" y="2747023"/>
            <a:ext cx="9226305" cy="108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 b="true">
                <a:solidFill>
                  <a:srgbClr val="2F2F29"/>
                </a:solidFill>
                <a:latin typeface="Agrandir Tight Heavy"/>
                <a:ea typeface="Agrandir Tight Heavy"/>
                <a:cs typeface="Agrandir Tight Heavy"/>
                <a:sym typeface="Agrandir Tight Heavy"/>
              </a:rPr>
              <a:t>Missions &amp; Avancées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68089" y="4671616"/>
            <a:ext cx="6883759" cy="391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Initialisation du projet Flutter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Installation et configuration des dépendances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Mise en place de la première structure de pages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Préparation de la future connexion avec le backend IA (S2)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Tests de compatibilité : Web, Android et iOS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889741" y="116967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8840100" y="9625247"/>
            <a:ext cx="81417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-13-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7476" y="7911408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6"/>
                </a:lnTo>
                <a:lnTo>
                  <a:pt x="0" y="7746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3988" y="8761586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69710">
            <a:off x="-1502135" y="9031897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66539" y="3692705"/>
            <a:ext cx="5891554" cy="2901590"/>
          </a:xfrm>
          <a:custGeom>
            <a:avLst/>
            <a:gdLst/>
            <a:ahLst/>
            <a:cxnLst/>
            <a:rect r="r" b="b" t="t" l="l"/>
            <a:pathLst>
              <a:path h="2901590" w="5891554">
                <a:moveTo>
                  <a:pt x="0" y="0"/>
                </a:moveTo>
                <a:lnTo>
                  <a:pt x="5891554" y="0"/>
                </a:lnTo>
                <a:lnTo>
                  <a:pt x="5891554" y="2901590"/>
                </a:lnTo>
                <a:lnTo>
                  <a:pt x="0" y="29015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49384" y="2014927"/>
            <a:ext cx="4329475" cy="2429918"/>
          </a:xfrm>
          <a:custGeom>
            <a:avLst/>
            <a:gdLst/>
            <a:ahLst/>
            <a:cxnLst/>
            <a:rect r="r" b="b" t="t" l="l"/>
            <a:pathLst>
              <a:path h="2429918" w="4329475">
                <a:moveTo>
                  <a:pt x="0" y="0"/>
                </a:moveTo>
                <a:lnTo>
                  <a:pt x="4329475" y="0"/>
                </a:lnTo>
                <a:lnTo>
                  <a:pt x="4329475" y="2429918"/>
                </a:lnTo>
                <a:lnTo>
                  <a:pt x="0" y="24299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49384" y="6057891"/>
            <a:ext cx="1853518" cy="1853518"/>
          </a:xfrm>
          <a:custGeom>
            <a:avLst/>
            <a:gdLst/>
            <a:ahLst/>
            <a:cxnLst/>
            <a:rect r="r" b="b" t="t" l="l"/>
            <a:pathLst>
              <a:path h="1853518" w="1853518">
                <a:moveTo>
                  <a:pt x="0" y="0"/>
                </a:moveTo>
                <a:lnTo>
                  <a:pt x="1853518" y="0"/>
                </a:lnTo>
                <a:lnTo>
                  <a:pt x="1853518" y="1853517"/>
                </a:lnTo>
                <a:lnTo>
                  <a:pt x="0" y="18535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836365" y="6646822"/>
            <a:ext cx="1295257" cy="1519363"/>
          </a:xfrm>
          <a:custGeom>
            <a:avLst/>
            <a:gdLst/>
            <a:ahLst/>
            <a:cxnLst/>
            <a:rect r="r" b="b" t="t" l="l"/>
            <a:pathLst>
              <a:path h="1519363" w="1295257">
                <a:moveTo>
                  <a:pt x="0" y="0"/>
                </a:moveTo>
                <a:lnTo>
                  <a:pt x="1295256" y="0"/>
                </a:lnTo>
                <a:lnTo>
                  <a:pt x="1295256" y="1519363"/>
                </a:lnTo>
                <a:lnTo>
                  <a:pt x="0" y="15193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41083" y="4010445"/>
            <a:ext cx="1136549" cy="1396681"/>
          </a:xfrm>
          <a:custGeom>
            <a:avLst/>
            <a:gdLst/>
            <a:ahLst/>
            <a:cxnLst/>
            <a:rect r="r" b="b" t="t" l="l"/>
            <a:pathLst>
              <a:path h="1396681" w="1136549">
                <a:moveTo>
                  <a:pt x="0" y="0"/>
                </a:moveTo>
                <a:lnTo>
                  <a:pt x="1136549" y="0"/>
                </a:lnTo>
                <a:lnTo>
                  <a:pt x="1136549" y="1396681"/>
                </a:lnTo>
                <a:lnTo>
                  <a:pt x="0" y="139668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1889741" y="1312545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8840100" y="9625247"/>
            <a:ext cx="81417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-14-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65882" y="1826065"/>
            <a:ext cx="3300657" cy="1554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19"/>
              </a:lnSpc>
            </a:pPr>
            <a:r>
              <a:rPr lang="en-US" sz="7799" b="true">
                <a:solidFill>
                  <a:srgbClr val="2F2F29"/>
                </a:solidFill>
                <a:latin typeface="Agrandir Tight Heavy"/>
                <a:ea typeface="Agrandir Tight Heavy"/>
                <a:cs typeface="Agrandir Tight Heavy"/>
                <a:sym typeface="Agrandir Tight Heavy"/>
              </a:rPr>
              <a:t>Outils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2276257" y="-577192"/>
            <a:ext cx="3304957" cy="3304957"/>
          </a:xfrm>
          <a:custGeom>
            <a:avLst/>
            <a:gdLst/>
            <a:ahLst/>
            <a:cxnLst/>
            <a:rect r="r" b="b" t="t" l="l"/>
            <a:pathLst>
              <a:path h="3304957" w="3304957">
                <a:moveTo>
                  <a:pt x="0" y="0"/>
                </a:moveTo>
                <a:lnTo>
                  <a:pt x="3304957" y="0"/>
                </a:lnTo>
                <a:lnTo>
                  <a:pt x="3304957" y="3304957"/>
                </a:lnTo>
                <a:lnTo>
                  <a:pt x="0" y="33049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7476" y="8268096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5"/>
                </a:lnTo>
                <a:lnTo>
                  <a:pt x="0" y="774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3988" y="8761586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569710">
            <a:off x="-1502135" y="9031897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7658015" y="188136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5"/>
                </a:lnTo>
                <a:lnTo>
                  <a:pt x="0" y="7746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682534" y="245630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4" y="0"/>
                </a:lnTo>
                <a:lnTo>
                  <a:pt x="6649744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64316" y="1833281"/>
            <a:ext cx="13452697" cy="6434815"/>
          </a:xfrm>
          <a:custGeom>
            <a:avLst/>
            <a:gdLst/>
            <a:ahLst/>
            <a:cxnLst/>
            <a:rect r="r" b="b" t="t" l="l"/>
            <a:pathLst>
              <a:path h="6434815" w="13452697">
                <a:moveTo>
                  <a:pt x="0" y="0"/>
                </a:moveTo>
                <a:lnTo>
                  <a:pt x="13452697" y="0"/>
                </a:lnTo>
                <a:lnTo>
                  <a:pt x="13452697" y="6434815"/>
                </a:lnTo>
                <a:lnTo>
                  <a:pt x="0" y="64348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32261" y="676068"/>
            <a:ext cx="13886053" cy="819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</a:pPr>
            <a:r>
              <a:rPr lang="en-US" b="true" sz="4100">
                <a:solidFill>
                  <a:srgbClr val="2F2F29"/>
                </a:solidFill>
                <a:latin typeface="Agrandir Tight Heavy"/>
                <a:ea typeface="Agrandir Tight Heavy"/>
                <a:cs typeface="Agrandir Tight Heavy"/>
                <a:sym typeface="Agrandir Tight Heavy"/>
              </a:rPr>
              <a:t>Organisation équipe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75288" y="9642148"/>
            <a:ext cx="81417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-15-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786405">
            <a:off x="16022915" y="-3599763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6"/>
                </a:lnTo>
                <a:lnTo>
                  <a:pt x="0" y="7199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569710">
            <a:off x="-1502135" y="9031897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0655" y="3983672"/>
            <a:ext cx="1086890" cy="590997"/>
          </a:xfrm>
          <a:custGeom>
            <a:avLst/>
            <a:gdLst/>
            <a:ahLst/>
            <a:cxnLst/>
            <a:rect r="r" b="b" t="t" l="l"/>
            <a:pathLst>
              <a:path h="590997" w="1086890">
                <a:moveTo>
                  <a:pt x="0" y="0"/>
                </a:moveTo>
                <a:lnTo>
                  <a:pt x="1086890" y="0"/>
                </a:lnTo>
                <a:lnTo>
                  <a:pt x="1086890" y="590997"/>
                </a:lnTo>
                <a:lnTo>
                  <a:pt x="0" y="590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88310" y="4024524"/>
            <a:ext cx="1086890" cy="590997"/>
          </a:xfrm>
          <a:custGeom>
            <a:avLst/>
            <a:gdLst/>
            <a:ahLst/>
            <a:cxnLst/>
            <a:rect r="r" b="b" t="t" l="l"/>
            <a:pathLst>
              <a:path h="590997" w="1086890">
                <a:moveTo>
                  <a:pt x="0" y="0"/>
                </a:moveTo>
                <a:lnTo>
                  <a:pt x="1086891" y="0"/>
                </a:lnTo>
                <a:lnTo>
                  <a:pt x="1086891" y="590997"/>
                </a:lnTo>
                <a:lnTo>
                  <a:pt x="0" y="590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0655" y="6466070"/>
            <a:ext cx="1086890" cy="590997"/>
          </a:xfrm>
          <a:custGeom>
            <a:avLst/>
            <a:gdLst/>
            <a:ahLst/>
            <a:cxnLst/>
            <a:rect r="r" b="b" t="t" l="l"/>
            <a:pathLst>
              <a:path h="590997" w="1086890">
                <a:moveTo>
                  <a:pt x="0" y="0"/>
                </a:moveTo>
                <a:lnTo>
                  <a:pt x="1086890" y="0"/>
                </a:lnTo>
                <a:lnTo>
                  <a:pt x="1086890" y="590996"/>
                </a:lnTo>
                <a:lnTo>
                  <a:pt x="0" y="590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88310" y="6506922"/>
            <a:ext cx="1086890" cy="590997"/>
          </a:xfrm>
          <a:custGeom>
            <a:avLst/>
            <a:gdLst/>
            <a:ahLst/>
            <a:cxnLst/>
            <a:rect r="r" b="b" t="t" l="l"/>
            <a:pathLst>
              <a:path h="590997" w="1086890">
                <a:moveTo>
                  <a:pt x="0" y="0"/>
                </a:moveTo>
                <a:lnTo>
                  <a:pt x="1086891" y="0"/>
                </a:lnTo>
                <a:lnTo>
                  <a:pt x="1086891" y="590996"/>
                </a:lnTo>
                <a:lnTo>
                  <a:pt x="0" y="5909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01947" y="1172419"/>
            <a:ext cx="9484107" cy="108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5499">
                <a:solidFill>
                  <a:srgbClr val="2F2F29"/>
                </a:solidFill>
                <a:latin typeface="Agrandir Tight Heavy"/>
                <a:ea typeface="Agrandir Tight Heavy"/>
                <a:cs typeface="Agrandir Tight Heavy"/>
                <a:sym typeface="Agrandir Tight Heavy"/>
              </a:rPr>
              <a:t>Contraintes du projet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0655" y="4840076"/>
            <a:ext cx="678903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Temps limité (S1 court)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88310" y="4880928"/>
            <a:ext cx="678903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Dépendance à la qualité du dataset (données limitées au début)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0655" y="7322474"/>
            <a:ext cx="678903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Complexité du modèle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88310" y="7363325"/>
            <a:ext cx="678903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Développement Flutter multi-supports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5755719" y="6761568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5"/>
                </a:lnTo>
                <a:lnTo>
                  <a:pt x="0" y="7746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791600" y="-2066806"/>
            <a:ext cx="3496400" cy="3496400"/>
          </a:xfrm>
          <a:custGeom>
            <a:avLst/>
            <a:gdLst/>
            <a:ahLst/>
            <a:cxnLst/>
            <a:rect r="r" b="b" t="t" l="l"/>
            <a:pathLst>
              <a:path h="3496400" w="3496400">
                <a:moveTo>
                  <a:pt x="0" y="0"/>
                </a:moveTo>
                <a:lnTo>
                  <a:pt x="3496400" y="0"/>
                </a:lnTo>
                <a:lnTo>
                  <a:pt x="3496400" y="3496400"/>
                </a:lnTo>
                <a:lnTo>
                  <a:pt x="0" y="3496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2276257" y="-318606"/>
            <a:ext cx="3304957" cy="3304957"/>
          </a:xfrm>
          <a:custGeom>
            <a:avLst/>
            <a:gdLst/>
            <a:ahLst/>
            <a:cxnLst/>
            <a:rect r="r" b="b" t="t" l="l"/>
            <a:pathLst>
              <a:path h="3304957" w="3304957">
                <a:moveTo>
                  <a:pt x="0" y="0"/>
                </a:moveTo>
                <a:lnTo>
                  <a:pt x="3304957" y="0"/>
                </a:lnTo>
                <a:lnTo>
                  <a:pt x="3304957" y="3304957"/>
                </a:lnTo>
                <a:lnTo>
                  <a:pt x="0" y="33049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775288" y="9642148"/>
            <a:ext cx="814172" cy="497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b="true" sz="2899">
                <a:solidFill>
                  <a:srgbClr val="3F3A37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-16-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72517" y="1270207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6" y="0"/>
                </a:lnTo>
                <a:lnTo>
                  <a:pt x="9142966" y="7746586"/>
                </a:lnTo>
                <a:lnTo>
                  <a:pt x="0" y="7746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42692" y="3491021"/>
            <a:ext cx="3304957" cy="3304957"/>
          </a:xfrm>
          <a:custGeom>
            <a:avLst/>
            <a:gdLst/>
            <a:ahLst/>
            <a:cxnLst/>
            <a:rect r="r" b="b" t="t" l="l"/>
            <a:pathLst>
              <a:path h="3304957" w="3304957">
                <a:moveTo>
                  <a:pt x="0" y="0"/>
                </a:moveTo>
                <a:lnTo>
                  <a:pt x="3304957" y="0"/>
                </a:lnTo>
                <a:lnTo>
                  <a:pt x="3304957" y="3304958"/>
                </a:lnTo>
                <a:lnTo>
                  <a:pt x="0" y="3304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039980">
            <a:off x="6675235" y="2938099"/>
            <a:ext cx="4090920" cy="3019843"/>
          </a:xfrm>
          <a:custGeom>
            <a:avLst/>
            <a:gdLst/>
            <a:ahLst/>
            <a:cxnLst/>
            <a:rect r="r" b="b" t="t" l="l"/>
            <a:pathLst>
              <a:path h="3019843" w="4090920">
                <a:moveTo>
                  <a:pt x="0" y="0"/>
                </a:moveTo>
                <a:lnTo>
                  <a:pt x="4090920" y="0"/>
                </a:lnTo>
                <a:lnTo>
                  <a:pt x="4090920" y="3019843"/>
                </a:lnTo>
                <a:lnTo>
                  <a:pt x="0" y="30198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647600" y="3797250"/>
            <a:ext cx="3496400" cy="3496400"/>
          </a:xfrm>
          <a:custGeom>
            <a:avLst/>
            <a:gdLst/>
            <a:ahLst/>
            <a:cxnLst/>
            <a:rect r="r" b="b" t="t" l="l"/>
            <a:pathLst>
              <a:path h="3496400" w="3496400">
                <a:moveTo>
                  <a:pt x="0" y="0"/>
                </a:moveTo>
                <a:lnTo>
                  <a:pt x="3496400" y="0"/>
                </a:lnTo>
                <a:lnTo>
                  <a:pt x="3496400" y="3496400"/>
                </a:lnTo>
                <a:lnTo>
                  <a:pt x="0" y="3496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-1005250" y="-6132834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7746586"/>
                </a:moveTo>
                <a:lnTo>
                  <a:pt x="9142966" y="7746586"/>
                </a:lnTo>
                <a:lnTo>
                  <a:pt x="9142966" y="0"/>
                </a:lnTo>
                <a:lnTo>
                  <a:pt x="0" y="0"/>
                </a:lnTo>
                <a:lnTo>
                  <a:pt x="0" y="7746586"/>
                </a:lnTo>
                <a:close/>
              </a:path>
            </a:pathLst>
          </a:custGeom>
          <a:blipFill>
            <a:blip r:embed="rId10">
              <a:alphaModFix amt="35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469148" y="-5242030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7199525"/>
                </a:moveTo>
                <a:lnTo>
                  <a:pt x="6649743" y="7199525"/>
                </a:lnTo>
                <a:lnTo>
                  <a:pt x="6649743" y="0"/>
                </a:lnTo>
                <a:lnTo>
                  <a:pt x="0" y="0"/>
                </a:lnTo>
                <a:lnTo>
                  <a:pt x="0" y="719952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53988" y="8761586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255678">
            <a:off x="-5930641" y="3960240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3" y="0"/>
                </a:lnTo>
                <a:lnTo>
                  <a:pt x="6649743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7261720">
            <a:off x="16720639" y="-3161615"/>
            <a:ext cx="6649743" cy="7199525"/>
          </a:xfrm>
          <a:custGeom>
            <a:avLst/>
            <a:gdLst/>
            <a:ahLst/>
            <a:cxnLst/>
            <a:rect r="r" b="b" t="t" l="l"/>
            <a:pathLst>
              <a:path h="7199525" w="6649743">
                <a:moveTo>
                  <a:pt x="0" y="0"/>
                </a:moveTo>
                <a:lnTo>
                  <a:pt x="6649744" y="0"/>
                </a:lnTo>
                <a:lnTo>
                  <a:pt x="6649744" y="7199525"/>
                </a:lnTo>
                <a:lnTo>
                  <a:pt x="0" y="7199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795395" y="4010562"/>
            <a:ext cx="8697209" cy="222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44"/>
              </a:lnSpc>
            </a:pPr>
            <a:r>
              <a:rPr lang="en-US" b="true" sz="11103">
                <a:solidFill>
                  <a:srgbClr val="1A1A1A"/>
                </a:solidFill>
                <a:latin typeface="Agrandir Tight Heavy"/>
                <a:ea typeface="Agrandir Tight Heavy"/>
                <a:cs typeface="Agrandir Tight Heavy"/>
                <a:sym typeface="Agrandir Tight Heavy"/>
              </a:rPr>
              <a:t>MERCI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297476" y="7911408"/>
            <a:ext cx="9142965" cy="7746585"/>
          </a:xfrm>
          <a:custGeom>
            <a:avLst/>
            <a:gdLst/>
            <a:ahLst/>
            <a:cxnLst/>
            <a:rect r="r" b="b" t="t" l="l"/>
            <a:pathLst>
              <a:path h="7746585" w="9142965">
                <a:moveTo>
                  <a:pt x="0" y="0"/>
                </a:moveTo>
                <a:lnTo>
                  <a:pt x="9142965" y="0"/>
                </a:lnTo>
                <a:lnTo>
                  <a:pt x="9142965" y="7746586"/>
                </a:lnTo>
                <a:lnTo>
                  <a:pt x="0" y="774658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1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DAG7Dh9Z-Fw</dc:identifier>
  <dcterms:modified xsi:type="dcterms:W3CDTF">2011-08-01T06:04:30Z</dcterms:modified>
  <cp:revision>1</cp:revision>
  <dc:title>MakeAIPrep</dc:title>
</cp:coreProperties>
</file>